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2" r:id="rId7"/>
    <p:sldId id="263" r:id="rId8"/>
    <p:sldId id="264" r:id="rId9"/>
    <p:sldId id="266" r:id="rId10"/>
    <p:sldId id="267" r:id="rId11"/>
    <p:sldId id="273" r:id="rId12"/>
    <p:sldId id="276" r:id="rId13"/>
    <p:sldId id="277" r:id="rId14"/>
    <p:sldId id="272" r:id="rId15"/>
    <p:sldId id="280" r:id="rId16"/>
    <p:sldId id="281" r:id="rId17"/>
    <p:sldId id="282" r:id="rId18"/>
    <p:sldId id="283" r:id="rId19"/>
    <p:sldId id="269" r:id="rId20"/>
    <p:sldId id="268" r:id="rId21"/>
    <p:sldId id="265"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8FD1"/>
    <a:srgbClr val="0E639C"/>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3741" autoAdjust="0"/>
  </p:normalViewPr>
  <p:slideViewPr>
    <p:cSldViewPr snapToGrid="0">
      <p:cViewPr varScale="1">
        <p:scale>
          <a:sx n="79" d="100"/>
          <a:sy n="79" d="100"/>
        </p:scale>
        <p:origin x="1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78EC-597B-1837-4A6B-04A17208DF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7A0CBD-5126-05F5-7AF2-F7EDA116FC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D77C01-A7A4-4045-ED95-4BBC65B70101}"/>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5" name="Footer Placeholder 4">
            <a:extLst>
              <a:ext uri="{FF2B5EF4-FFF2-40B4-BE49-F238E27FC236}">
                <a16:creationId xmlns:a16="http://schemas.microsoft.com/office/drawing/2014/main" id="{B7E3C5BE-3116-B71C-C574-5D2C2AA73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29F0B3-0048-8F0C-035E-F3819EF7BD41}"/>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1092268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E21F1-ACAC-7FAE-32ED-A29F8A8AA6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961646-12BE-38C2-0D48-D643FF1DF8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C4EB6-1594-230A-6635-32AA9EF8D495}"/>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5" name="Footer Placeholder 4">
            <a:extLst>
              <a:ext uri="{FF2B5EF4-FFF2-40B4-BE49-F238E27FC236}">
                <a16:creationId xmlns:a16="http://schemas.microsoft.com/office/drawing/2014/main" id="{669280D6-0872-10B0-7ECE-8DC2026C8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D7DAA-947A-AB09-736B-6D5D54104C57}"/>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416779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5DFD4-6FE7-D9AD-01E3-F19E8127D3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FBA125-161A-8A28-563F-130A3B41DE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9C0D-ABA8-BCC7-FE24-89BD202F0B5A}"/>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5" name="Footer Placeholder 4">
            <a:extLst>
              <a:ext uri="{FF2B5EF4-FFF2-40B4-BE49-F238E27FC236}">
                <a16:creationId xmlns:a16="http://schemas.microsoft.com/office/drawing/2014/main" id="{E7E62975-0DEA-367E-65E6-C6834A585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0EAA0-FC19-A3CD-A6D6-C3A175B05443}"/>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4022296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3DFD-B6EC-D958-CD29-03232F24D0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7B0668-D929-D9BE-7FAB-027AA56034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054966-C95B-FFC5-DA1D-6C0C26BCE9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C8B15B-5325-486F-7351-341EF727481B}"/>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6" name="Footer Placeholder 5">
            <a:extLst>
              <a:ext uri="{FF2B5EF4-FFF2-40B4-BE49-F238E27FC236}">
                <a16:creationId xmlns:a16="http://schemas.microsoft.com/office/drawing/2014/main" id="{BA402580-634F-CA49-2333-C6B7388277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C5940E-010E-9832-6101-6D22867BC1FE}"/>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380771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C6DE-7D75-5855-CCD0-6C531C2E41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8B6C29-F627-627F-0CC4-D0153B6555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AB766A-5320-73DB-62A5-8DD79A74E4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7EEC35-BD69-4FCF-F86D-FBA10CED99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0FB7CD-0E71-C237-FA6F-C10A2ADF12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2D649D-4229-FBE8-A3CC-F755BCC9D031}"/>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8" name="Footer Placeholder 7">
            <a:extLst>
              <a:ext uri="{FF2B5EF4-FFF2-40B4-BE49-F238E27FC236}">
                <a16:creationId xmlns:a16="http://schemas.microsoft.com/office/drawing/2014/main" id="{6E675295-BB2E-543B-F610-3ABCF483A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77FD8-000C-1DFF-EDBD-91C0483BF129}"/>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3871892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F547-A13E-7137-2C73-51B00B436C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EBCD5C-6785-1AF6-5961-3460EE84506B}"/>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4" name="Footer Placeholder 3">
            <a:extLst>
              <a:ext uri="{FF2B5EF4-FFF2-40B4-BE49-F238E27FC236}">
                <a16:creationId xmlns:a16="http://schemas.microsoft.com/office/drawing/2014/main" id="{C2C0A38C-8291-EC81-5A53-F9A64AC96D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8B6055-8B85-E22A-D824-2FED3ED439CE}"/>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217668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821A4D-C554-4218-1933-729C33F05C96}"/>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3" name="Footer Placeholder 2">
            <a:extLst>
              <a:ext uri="{FF2B5EF4-FFF2-40B4-BE49-F238E27FC236}">
                <a16:creationId xmlns:a16="http://schemas.microsoft.com/office/drawing/2014/main" id="{760B29AE-14D0-4B3E-D99A-4051CB014A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56F810-C489-0A2A-A0EB-611B72E5FD7A}"/>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249388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BB5D5-07C4-792E-320D-06B0273EB8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DC9E5B-E535-5F3D-7B51-B02DA84217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26E8B9-EE17-CE67-02E7-E879215C3D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674E5-9C4F-0397-98EE-81B48D3DCB21}"/>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6" name="Footer Placeholder 5">
            <a:extLst>
              <a:ext uri="{FF2B5EF4-FFF2-40B4-BE49-F238E27FC236}">
                <a16:creationId xmlns:a16="http://schemas.microsoft.com/office/drawing/2014/main" id="{56AD8457-7A8C-F6F8-CB64-76D4972D0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D4BCE9-9EE0-0841-69BD-5B5808162E1E}"/>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3452835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EB5D4-0387-4DAE-1CB0-51E266432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BB12E-8454-A652-6508-CAACF72557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87268B-FCC5-6F6F-A02F-803AF2375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E5AF15-7BF1-98A0-BC66-D5C1ECD24F7E}"/>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6" name="Footer Placeholder 5">
            <a:extLst>
              <a:ext uri="{FF2B5EF4-FFF2-40B4-BE49-F238E27FC236}">
                <a16:creationId xmlns:a16="http://schemas.microsoft.com/office/drawing/2014/main" id="{7954667F-D092-C356-F779-62ED197FE6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27B30C-2B50-BD15-4C8E-E1CA79A7DAEE}"/>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3963219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8F717-57AA-0B29-B68A-C34A7D9177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E8B848-F7D1-16DD-27B4-06DFCA20F6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C3E67E-6865-6350-8D7E-649BDF3A1FDE}"/>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5" name="Footer Placeholder 4">
            <a:extLst>
              <a:ext uri="{FF2B5EF4-FFF2-40B4-BE49-F238E27FC236}">
                <a16:creationId xmlns:a16="http://schemas.microsoft.com/office/drawing/2014/main" id="{C144FF7A-D298-D349-50DD-4F00339313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AD3150-A580-9E1A-E45F-C871CA6CFF95}"/>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1885621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F47E7E-1104-0240-6322-618C47ECA1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C1B1FA-6031-12CD-564A-D51EA2EC4C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0D1962-9B72-1236-FDD5-A2697ECA4564}"/>
              </a:ext>
            </a:extLst>
          </p:cNvPr>
          <p:cNvSpPr>
            <a:spLocks noGrp="1"/>
          </p:cNvSpPr>
          <p:nvPr>
            <p:ph type="dt" sz="half" idx="10"/>
          </p:nvPr>
        </p:nvSpPr>
        <p:spPr/>
        <p:txBody>
          <a:bodyPr/>
          <a:lstStyle/>
          <a:p>
            <a:fld id="{ACBFE4FC-7AC4-42D8-8F29-7FF998FDA7F7}" type="datetimeFigureOut">
              <a:rPr lang="en-US" smtClean="0"/>
              <a:t>3/6/2026</a:t>
            </a:fld>
            <a:endParaRPr lang="en-US"/>
          </a:p>
        </p:txBody>
      </p:sp>
      <p:sp>
        <p:nvSpPr>
          <p:cNvPr id="5" name="Footer Placeholder 4">
            <a:extLst>
              <a:ext uri="{FF2B5EF4-FFF2-40B4-BE49-F238E27FC236}">
                <a16:creationId xmlns:a16="http://schemas.microsoft.com/office/drawing/2014/main" id="{AD329F66-EC21-D1C3-2818-942671447D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2C778A-CE2C-8467-FC75-9D806AAD160B}"/>
              </a:ext>
            </a:extLst>
          </p:cNvPr>
          <p:cNvSpPr>
            <a:spLocks noGrp="1"/>
          </p:cNvSpPr>
          <p:nvPr>
            <p:ph type="sldNum" sz="quarter" idx="12"/>
          </p:nvPr>
        </p:nvSpPr>
        <p:spPr/>
        <p:txBody>
          <a:bodyPr/>
          <a:lstStyle/>
          <a:p>
            <a:fld id="{6B900F3B-772B-4434-AB98-CEE8BF4AE158}" type="slidenum">
              <a:rPr lang="en-US" smtClean="0"/>
              <a:t>‹#›</a:t>
            </a:fld>
            <a:endParaRPr lang="en-US"/>
          </a:p>
        </p:txBody>
      </p:sp>
    </p:spTree>
    <p:extLst>
      <p:ext uri="{BB962C8B-B14F-4D97-AF65-F5344CB8AC3E}">
        <p14:creationId xmlns:p14="http://schemas.microsoft.com/office/powerpoint/2010/main" val="3005221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E40CEA-EC4B-5947-B358-CF7776930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D187C6-68C9-6640-83BA-4762F76510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7094D5-DF1A-AB72-5B5D-5C9EDB4BF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FE4FC-7AC4-42D8-8F29-7FF998FDA7F7}" type="datetimeFigureOut">
              <a:rPr lang="en-US" smtClean="0"/>
              <a:t>3/6/2026</a:t>
            </a:fld>
            <a:endParaRPr lang="en-US"/>
          </a:p>
        </p:txBody>
      </p:sp>
      <p:sp>
        <p:nvSpPr>
          <p:cNvPr id="5" name="Footer Placeholder 4">
            <a:extLst>
              <a:ext uri="{FF2B5EF4-FFF2-40B4-BE49-F238E27FC236}">
                <a16:creationId xmlns:a16="http://schemas.microsoft.com/office/drawing/2014/main" id="{921FFF0E-F439-B85D-A0BB-8E065C3F69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8C9922-1C2C-C6A7-06D7-12BFCC4BED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900F3B-772B-4434-AB98-CEE8BF4AE158}" type="slidenum">
              <a:rPr lang="en-US" smtClean="0"/>
              <a:t>‹#›</a:t>
            </a:fld>
            <a:endParaRPr lang="en-US"/>
          </a:p>
        </p:txBody>
      </p:sp>
    </p:spTree>
    <p:extLst>
      <p:ext uri="{BB962C8B-B14F-4D97-AF65-F5344CB8AC3E}">
        <p14:creationId xmlns:p14="http://schemas.microsoft.com/office/powerpoint/2010/main" val="3614457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25581F-31E1-0BA6-2311-993FC65FAD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5101388" cy="6857999"/>
          </a:xfrm>
        </p:spPr>
      </p:pic>
      <p:sp>
        <p:nvSpPr>
          <p:cNvPr id="2" name="Title 1">
            <a:extLst>
              <a:ext uri="{FF2B5EF4-FFF2-40B4-BE49-F238E27FC236}">
                <a16:creationId xmlns:a16="http://schemas.microsoft.com/office/drawing/2014/main" id="{ADB0A38D-7085-0AC1-587E-9AAB09BD61E2}"/>
              </a:ext>
            </a:extLst>
          </p:cNvPr>
          <p:cNvSpPr>
            <a:spLocks noGrp="1"/>
          </p:cNvSpPr>
          <p:nvPr>
            <p:ph type="title"/>
          </p:nvPr>
        </p:nvSpPr>
        <p:spPr>
          <a:xfrm>
            <a:off x="8205537" y="5584406"/>
            <a:ext cx="3842084" cy="1113172"/>
          </a:xfrm>
        </p:spPr>
        <p:txBody>
          <a:bodyPr/>
          <a:lstStyle/>
          <a:p>
            <a:r>
              <a:rPr lang="en-US" sz="1800" dirty="0"/>
              <a:t>Presented by </a:t>
            </a:r>
            <a:br>
              <a:rPr lang="en-US" dirty="0"/>
            </a:br>
            <a:r>
              <a:rPr lang="en-US" sz="2800" b="1" dirty="0"/>
              <a:t>Confidence Ihediohamma</a:t>
            </a:r>
          </a:p>
        </p:txBody>
      </p:sp>
      <p:sp>
        <p:nvSpPr>
          <p:cNvPr id="8" name="TextBox 7">
            <a:extLst>
              <a:ext uri="{FF2B5EF4-FFF2-40B4-BE49-F238E27FC236}">
                <a16:creationId xmlns:a16="http://schemas.microsoft.com/office/drawing/2014/main" id="{7538A4BA-3643-DEB6-F1D4-EAFDF7DC4AE9}"/>
              </a:ext>
            </a:extLst>
          </p:cNvPr>
          <p:cNvSpPr txBox="1"/>
          <p:nvPr/>
        </p:nvSpPr>
        <p:spPr>
          <a:xfrm>
            <a:off x="5807243" y="3255364"/>
            <a:ext cx="6240378" cy="1015663"/>
          </a:xfrm>
          <a:prstGeom prst="rect">
            <a:avLst/>
          </a:prstGeom>
          <a:noFill/>
        </p:spPr>
        <p:txBody>
          <a:bodyPr wrap="square" rtlCol="0">
            <a:spAutoFit/>
          </a:bodyPr>
          <a:lstStyle/>
          <a:p>
            <a:pPr algn="r"/>
            <a:r>
              <a:rPr lang="en-US" sz="2000" dirty="0">
                <a:latin typeface="Bahnschrift SemiBold" panose="020B0502040204020203" pitchFamily="34" charset="0"/>
              </a:rPr>
              <a:t>A Comprehensive Analysis of Sales, Profitability, and Regional Performance Trend across Global  Superstore Product Categories and Markets</a:t>
            </a:r>
          </a:p>
        </p:txBody>
      </p:sp>
      <p:sp>
        <p:nvSpPr>
          <p:cNvPr id="11" name="TextBox 10">
            <a:extLst>
              <a:ext uri="{FF2B5EF4-FFF2-40B4-BE49-F238E27FC236}">
                <a16:creationId xmlns:a16="http://schemas.microsoft.com/office/drawing/2014/main" id="{4A785B57-7F73-D7A7-FC4F-6B11D67903C2}"/>
              </a:ext>
            </a:extLst>
          </p:cNvPr>
          <p:cNvSpPr txBox="1"/>
          <p:nvPr/>
        </p:nvSpPr>
        <p:spPr>
          <a:xfrm>
            <a:off x="4235116" y="670041"/>
            <a:ext cx="7812505" cy="1815882"/>
          </a:xfrm>
          <a:prstGeom prst="rect">
            <a:avLst/>
          </a:prstGeom>
          <a:noFill/>
        </p:spPr>
        <p:txBody>
          <a:bodyPr wrap="square" rtlCol="0">
            <a:spAutoFit/>
          </a:bodyPr>
          <a:lstStyle/>
          <a:p>
            <a:pPr algn="r"/>
            <a:r>
              <a:rPr lang="en-US" sz="5400" b="1" dirty="0">
                <a:solidFill>
                  <a:srgbClr val="018FD1"/>
                </a:solidFill>
                <a:latin typeface="Britannic Bold" panose="020B0903060703020204" pitchFamily="34" charset="0"/>
              </a:rPr>
              <a:t>GLOBAL SUPERSTORE ANALYSIS</a:t>
            </a:r>
          </a:p>
        </p:txBody>
      </p:sp>
    </p:spTree>
    <p:extLst>
      <p:ext uri="{BB962C8B-B14F-4D97-AF65-F5344CB8AC3E}">
        <p14:creationId xmlns:p14="http://schemas.microsoft.com/office/powerpoint/2010/main" val="3808275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36E0F3-DDF1-9719-DBCF-DEBC4A59D230}"/>
              </a:ext>
            </a:extLst>
          </p:cNvPr>
          <p:cNvPicPr>
            <a:picLocks noChangeAspect="1"/>
          </p:cNvPicPr>
          <p:nvPr/>
        </p:nvPicPr>
        <p:blipFill>
          <a:blip r:embed="rId2">
            <a:extLst>
              <a:ext uri="{28A0092B-C50C-407E-A947-70E740481C1C}">
                <a14:useLocalDpi xmlns:a14="http://schemas.microsoft.com/office/drawing/2010/main" val="0"/>
              </a:ext>
            </a:extLst>
          </a:blip>
          <a:srcRect b="13869"/>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878C9E17-C60F-1B6D-95C6-2F4F116D3382}"/>
              </a:ext>
            </a:extLst>
          </p:cNvPr>
          <p:cNvSpPr/>
          <p:nvPr/>
        </p:nvSpPr>
        <p:spPr>
          <a:xfrm>
            <a:off x="7397392" y="2126751"/>
            <a:ext cx="4243228" cy="43459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C2B3CC4-40F5-6B97-E092-79F1F9503F25}"/>
              </a:ext>
            </a:extLst>
          </p:cNvPr>
          <p:cNvSpPr txBox="1"/>
          <p:nvPr/>
        </p:nvSpPr>
        <p:spPr>
          <a:xfrm>
            <a:off x="7397392" y="2428363"/>
            <a:ext cx="3606229" cy="400110"/>
          </a:xfrm>
          <a:prstGeom prst="rect">
            <a:avLst/>
          </a:prstGeom>
          <a:noFill/>
        </p:spPr>
        <p:txBody>
          <a:bodyPr wrap="square" rtlCol="0">
            <a:spAutoFit/>
          </a:bodyPr>
          <a:lstStyle/>
          <a:p>
            <a:r>
              <a:rPr lang="en-US" sz="2000" dirty="0"/>
              <a:t>Introduction</a:t>
            </a:r>
          </a:p>
        </p:txBody>
      </p:sp>
      <p:sp>
        <p:nvSpPr>
          <p:cNvPr id="13" name="TextBox 12">
            <a:extLst>
              <a:ext uri="{FF2B5EF4-FFF2-40B4-BE49-F238E27FC236}">
                <a16:creationId xmlns:a16="http://schemas.microsoft.com/office/drawing/2014/main" id="{864A6014-255B-AE5A-43C4-FFFE88357B60}"/>
              </a:ext>
            </a:extLst>
          </p:cNvPr>
          <p:cNvSpPr txBox="1"/>
          <p:nvPr/>
        </p:nvSpPr>
        <p:spPr>
          <a:xfrm>
            <a:off x="7397392" y="3178037"/>
            <a:ext cx="4243228" cy="707886"/>
          </a:xfrm>
          <a:prstGeom prst="rect">
            <a:avLst/>
          </a:prstGeom>
          <a:noFill/>
        </p:spPr>
        <p:txBody>
          <a:bodyPr wrap="square" rtlCol="0">
            <a:spAutoFit/>
          </a:bodyPr>
          <a:lstStyle/>
          <a:p>
            <a:r>
              <a:rPr lang="en-US" sz="2000" dirty="0"/>
              <a:t>Data Visualization and Problem Statement </a:t>
            </a:r>
          </a:p>
        </p:txBody>
      </p:sp>
      <p:sp>
        <p:nvSpPr>
          <p:cNvPr id="14" name="TextBox 13">
            <a:extLst>
              <a:ext uri="{FF2B5EF4-FFF2-40B4-BE49-F238E27FC236}">
                <a16:creationId xmlns:a16="http://schemas.microsoft.com/office/drawing/2014/main" id="{7B4AE07B-60DC-7766-C38F-089F291D8D9D}"/>
              </a:ext>
            </a:extLst>
          </p:cNvPr>
          <p:cNvSpPr txBox="1"/>
          <p:nvPr/>
        </p:nvSpPr>
        <p:spPr>
          <a:xfrm>
            <a:off x="7397392" y="4158974"/>
            <a:ext cx="4243228" cy="400110"/>
          </a:xfrm>
          <a:prstGeom prst="rect">
            <a:avLst/>
          </a:prstGeom>
          <a:noFill/>
        </p:spPr>
        <p:txBody>
          <a:bodyPr wrap="square" rtlCol="0">
            <a:spAutoFit/>
          </a:bodyPr>
          <a:lstStyle/>
          <a:p>
            <a:r>
              <a:rPr lang="en-US" sz="2000" dirty="0"/>
              <a:t>Business Questions</a:t>
            </a:r>
          </a:p>
        </p:txBody>
      </p:sp>
      <p:sp>
        <p:nvSpPr>
          <p:cNvPr id="15" name="TextBox 14">
            <a:extLst>
              <a:ext uri="{FF2B5EF4-FFF2-40B4-BE49-F238E27FC236}">
                <a16:creationId xmlns:a16="http://schemas.microsoft.com/office/drawing/2014/main" id="{3A9210B3-C165-D614-2B0A-27D135E37C5A}"/>
              </a:ext>
            </a:extLst>
          </p:cNvPr>
          <p:cNvSpPr txBox="1"/>
          <p:nvPr/>
        </p:nvSpPr>
        <p:spPr>
          <a:xfrm>
            <a:off x="7397392" y="4972575"/>
            <a:ext cx="4407614" cy="400110"/>
          </a:xfrm>
          <a:prstGeom prst="rect">
            <a:avLst/>
          </a:prstGeom>
          <a:noFill/>
        </p:spPr>
        <p:txBody>
          <a:bodyPr wrap="square" rtlCol="0">
            <a:spAutoFit/>
          </a:bodyPr>
          <a:lstStyle/>
          <a:p>
            <a:r>
              <a:rPr lang="en-US" sz="2000" dirty="0"/>
              <a:t>Challenges Faced and Recommendation</a:t>
            </a:r>
          </a:p>
        </p:txBody>
      </p:sp>
      <p:sp>
        <p:nvSpPr>
          <p:cNvPr id="16" name="TextBox 15">
            <a:extLst>
              <a:ext uri="{FF2B5EF4-FFF2-40B4-BE49-F238E27FC236}">
                <a16:creationId xmlns:a16="http://schemas.microsoft.com/office/drawing/2014/main" id="{9EB5FDB9-8972-A450-5CA5-C4251A999670}"/>
              </a:ext>
            </a:extLst>
          </p:cNvPr>
          <p:cNvSpPr txBox="1"/>
          <p:nvPr/>
        </p:nvSpPr>
        <p:spPr>
          <a:xfrm>
            <a:off x="7397392" y="5799558"/>
            <a:ext cx="4243228" cy="400110"/>
          </a:xfrm>
          <a:prstGeom prst="rect">
            <a:avLst/>
          </a:prstGeom>
          <a:noFill/>
        </p:spPr>
        <p:txBody>
          <a:bodyPr wrap="square" rtlCol="0">
            <a:spAutoFit/>
          </a:bodyPr>
          <a:lstStyle/>
          <a:p>
            <a:r>
              <a:rPr lang="en-US" sz="2000" dirty="0"/>
              <a:t>Conclusion</a:t>
            </a:r>
          </a:p>
        </p:txBody>
      </p:sp>
      <p:sp>
        <p:nvSpPr>
          <p:cNvPr id="17" name="Rectangle 16">
            <a:extLst>
              <a:ext uri="{FF2B5EF4-FFF2-40B4-BE49-F238E27FC236}">
                <a16:creationId xmlns:a16="http://schemas.microsoft.com/office/drawing/2014/main" id="{823B27E8-2D8F-CF67-BBCC-466EF75B6485}"/>
              </a:ext>
            </a:extLst>
          </p:cNvPr>
          <p:cNvSpPr/>
          <p:nvPr/>
        </p:nvSpPr>
        <p:spPr>
          <a:xfrm>
            <a:off x="0" y="0"/>
            <a:ext cx="12192000" cy="14853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882B2B0-7079-B332-1D6B-7FAEA609F09D}"/>
              </a:ext>
            </a:extLst>
          </p:cNvPr>
          <p:cNvSpPr txBox="1"/>
          <p:nvPr/>
        </p:nvSpPr>
        <p:spPr>
          <a:xfrm>
            <a:off x="0" y="308225"/>
            <a:ext cx="12191999" cy="1015663"/>
          </a:xfrm>
          <a:prstGeom prst="rect">
            <a:avLst/>
          </a:prstGeom>
          <a:noFill/>
        </p:spPr>
        <p:txBody>
          <a:bodyPr wrap="square" rtlCol="0">
            <a:spAutoFit/>
          </a:bodyPr>
          <a:lstStyle/>
          <a:p>
            <a:pPr algn="ctr"/>
            <a:r>
              <a:rPr lang="en-US" sz="6000" b="1" dirty="0"/>
              <a:t>Table Of Content</a:t>
            </a:r>
          </a:p>
        </p:txBody>
      </p:sp>
    </p:spTree>
    <p:extLst>
      <p:ext uri="{BB962C8B-B14F-4D97-AF65-F5344CB8AC3E}">
        <p14:creationId xmlns:p14="http://schemas.microsoft.com/office/powerpoint/2010/main" val="3908656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B9629A5-4BB2-2A87-B238-A9B3F255BF6B}"/>
              </a:ext>
            </a:extLst>
          </p:cNvPr>
          <p:cNvSpPr/>
          <p:nvPr/>
        </p:nvSpPr>
        <p:spPr>
          <a:xfrm>
            <a:off x="0" y="0"/>
            <a:ext cx="1219200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F57C5E-6D41-5ACC-760A-2F04A812537A}"/>
              </a:ext>
            </a:extLst>
          </p:cNvPr>
          <p:cNvSpPr>
            <a:spLocks noGrp="1"/>
          </p:cNvSpPr>
          <p:nvPr>
            <p:ph type="title"/>
          </p:nvPr>
        </p:nvSpPr>
        <p:spPr>
          <a:xfrm>
            <a:off x="838200" y="86129"/>
            <a:ext cx="10515600" cy="1325563"/>
          </a:xfrm>
        </p:spPr>
        <p:txBody>
          <a:bodyPr>
            <a:normAutofit/>
          </a:bodyPr>
          <a:lstStyle/>
          <a:p>
            <a:pPr algn="ctr"/>
            <a:r>
              <a:rPr lang="en-US" sz="6000" b="1" dirty="0">
                <a:solidFill>
                  <a:schemeClr val="bg1"/>
                </a:solidFill>
              </a:rPr>
              <a:t>INTRODUCTION</a:t>
            </a:r>
          </a:p>
        </p:txBody>
      </p:sp>
      <p:sp>
        <p:nvSpPr>
          <p:cNvPr id="3" name="Content Placeholder 2">
            <a:extLst>
              <a:ext uri="{FF2B5EF4-FFF2-40B4-BE49-F238E27FC236}">
                <a16:creationId xmlns:a16="http://schemas.microsoft.com/office/drawing/2014/main" id="{B8330558-51AC-5309-5F7D-78BFF7831BD2}"/>
              </a:ext>
            </a:extLst>
          </p:cNvPr>
          <p:cNvSpPr>
            <a:spLocks noGrp="1"/>
          </p:cNvSpPr>
          <p:nvPr>
            <p:ph idx="1"/>
          </p:nvPr>
        </p:nvSpPr>
        <p:spPr>
          <a:xfrm>
            <a:off x="945222" y="1497822"/>
            <a:ext cx="10408578" cy="4769414"/>
          </a:xfrm>
        </p:spPr>
        <p:txBody>
          <a:bodyPr>
            <a:noAutofit/>
          </a:bodyPr>
          <a:lstStyle/>
          <a:p>
            <a:pPr marL="0" indent="0" algn="just">
              <a:buNone/>
            </a:pPr>
            <a:r>
              <a:rPr lang="en-US" sz="4300" dirty="0"/>
              <a:t>This report highlights key performance insights across products, categories, regions, and customers. It identifies areas of underperformance, opportunities to boost profitability, and measures to improve cash flow and customer value. The following recommendations provide actionable steps to optimize overall business performance.</a:t>
            </a:r>
          </a:p>
        </p:txBody>
      </p:sp>
    </p:spTree>
    <p:extLst>
      <p:ext uri="{BB962C8B-B14F-4D97-AF65-F5344CB8AC3E}">
        <p14:creationId xmlns:p14="http://schemas.microsoft.com/office/powerpoint/2010/main" val="3879765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E870CF-3212-3922-C537-00D4B546A0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454646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57B3D-E45A-BDEB-0046-2A0A6EA294A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BBE4E43-64BB-FE36-5F8E-9E11A25CE3C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p:spPr>
      </p:pic>
    </p:spTree>
    <p:extLst>
      <p:ext uri="{BB962C8B-B14F-4D97-AF65-F5344CB8AC3E}">
        <p14:creationId xmlns:p14="http://schemas.microsoft.com/office/powerpoint/2010/main" val="2018178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B8DDA-A54A-93C2-BFDD-FE9012DA122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2A1316-D2F1-1C13-70E0-F0D7CCDDA3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711655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8F307B-199D-07BC-BC57-A7EE7A8515EA}"/>
              </a:ext>
            </a:extLst>
          </p:cNvPr>
          <p:cNvSpPr/>
          <p:nvPr/>
        </p:nvSpPr>
        <p:spPr>
          <a:xfrm>
            <a:off x="0" y="-2"/>
            <a:ext cx="12192000" cy="15103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6E1537-9BA8-447C-FCED-12DEA9F95E8A}"/>
              </a:ext>
            </a:extLst>
          </p:cNvPr>
          <p:cNvSpPr>
            <a:spLocks noGrp="1"/>
          </p:cNvSpPr>
          <p:nvPr>
            <p:ph type="title"/>
          </p:nvPr>
        </p:nvSpPr>
        <p:spPr>
          <a:xfrm>
            <a:off x="569413" y="92366"/>
            <a:ext cx="8028398" cy="1325563"/>
          </a:xfrm>
        </p:spPr>
        <p:txBody>
          <a:bodyPr>
            <a:normAutofit/>
          </a:bodyPr>
          <a:lstStyle/>
          <a:p>
            <a:pPr algn="ctr"/>
            <a:r>
              <a:rPr lang="en-US" sz="5400" b="1" dirty="0">
                <a:solidFill>
                  <a:schemeClr val="bg1"/>
                </a:solidFill>
              </a:rPr>
              <a:t>PROBLEM STATEMENT</a:t>
            </a:r>
          </a:p>
        </p:txBody>
      </p:sp>
      <p:sp>
        <p:nvSpPr>
          <p:cNvPr id="3" name="Content Placeholder 2">
            <a:extLst>
              <a:ext uri="{FF2B5EF4-FFF2-40B4-BE49-F238E27FC236}">
                <a16:creationId xmlns:a16="http://schemas.microsoft.com/office/drawing/2014/main" id="{8853A4FE-696D-4834-3E8A-A9B4A026F4F6}"/>
              </a:ext>
            </a:extLst>
          </p:cNvPr>
          <p:cNvSpPr>
            <a:spLocks noGrp="1"/>
          </p:cNvSpPr>
          <p:nvPr>
            <p:ph idx="1"/>
          </p:nvPr>
        </p:nvSpPr>
        <p:spPr/>
        <p:txBody>
          <a:bodyPr>
            <a:normAutofit/>
          </a:bodyPr>
          <a:lstStyle/>
          <a:p>
            <a:pPr marL="0" indent="0" algn="just">
              <a:buNone/>
            </a:pPr>
            <a:r>
              <a:rPr lang="en-US" sz="3200" dirty="0"/>
              <a:t>The business is experiencing uneven performance across products, categories, and regions, with certain items generating losses while others remain highly profitable. Additionally, cash flow is impacted by outstanding customer balances, and high-value customers may not be fully leveraged for retention. These issues limit overall profitability and operational efficiency, necessitating targeted actions to address underperformance, optimize resources, and strengthen financial stability.</a:t>
            </a:r>
          </a:p>
        </p:txBody>
      </p:sp>
      <p:pic>
        <p:nvPicPr>
          <p:cNvPr id="6" name="Picture 5">
            <a:extLst>
              <a:ext uri="{FF2B5EF4-FFF2-40B4-BE49-F238E27FC236}">
                <a16:creationId xmlns:a16="http://schemas.microsoft.com/office/drawing/2014/main" id="{39DE71F2-B277-8E58-F6EB-BC15F1F858BF}"/>
              </a:ext>
            </a:extLst>
          </p:cNvPr>
          <p:cNvPicPr>
            <a:picLocks noChangeAspect="1"/>
          </p:cNvPicPr>
          <p:nvPr/>
        </p:nvPicPr>
        <p:blipFill>
          <a:blip r:embed="rId2">
            <a:extLst>
              <a:ext uri="{28A0092B-C50C-407E-A947-70E740481C1C}">
                <a14:useLocalDpi xmlns:a14="http://schemas.microsoft.com/office/drawing/2010/main" val="0"/>
              </a:ext>
            </a:extLst>
          </a:blip>
          <a:srcRect l="9162" t="21686" r="9162" b="21684"/>
          <a:stretch>
            <a:fillRect/>
          </a:stretch>
        </p:blipFill>
        <p:spPr>
          <a:xfrm>
            <a:off x="8383713" y="-1"/>
            <a:ext cx="3808288" cy="1510300"/>
          </a:xfrm>
          <a:prstGeom prst="rect">
            <a:avLst/>
          </a:prstGeom>
        </p:spPr>
      </p:pic>
    </p:spTree>
    <p:extLst>
      <p:ext uri="{BB962C8B-B14F-4D97-AF65-F5344CB8AC3E}">
        <p14:creationId xmlns:p14="http://schemas.microsoft.com/office/powerpoint/2010/main" val="3350496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DA6F3-CD3E-00F3-016F-54B40A078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7ED4A-1C80-46DC-02DE-2F6107046F53}"/>
              </a:ext>
            </a:extLst>
          </p:cNvPr>
          <p:cNvSpPr>
            <a:spLocks noGrp="1"/>
          </p:cNvSpPr>
          <p:nvPr>
            <p:ph type="title"/>
          </p:nvPr>
        </p:nvSpPr>
        <p:spPr>
          <a:xfrm>
            <a:off x="166342" y="58327"/>
            <a:ext cx="10515600" cy="1062918"/>
          </a:xfrm>
        </p:spPr>
        <p:txBody>
          <a:bodyPr/>
          <a:lstStyle/>
          <a:p>
            <a:pPr algn="ctr"/>
            <a:r>
              <a:rPr lang="en-US" b="1" dirty="0"/>
              <a:t>KEY PERFORMANCE INDICATORS</a:t>
            </a:r>
          </a:p>
        </p:txBody>
      </p:sp>
      <p:sp>
        <p:nvSpPr>
          <p:cNvPr id="3" name="Content Placeholder 2">
            <a:extLst>
              <a:ext uri="{FF2B5EF4-FFF2-40B4-BE49-F238E27FC236}">
                <a16:creationId xmlns:a16="http://schemas.microsoft.com/office/drawing/2014/main" id="{24696930-F405-BFA4-B982-A8820B68E166}"/>
              </a:ext>
            </a:extLst>
          </p:cNvPr>
          <p:cNvSpPr>
            <a:spLocks noGrp="1"/>
          </p:cNvSpPr>
          <p:nvPr>
            <p:ph idx="1"/>
          </p:nvPr>
        </p:nvSpPr>
        <p:spPr>
          <a:xfrm>
            <a:off x="867639" y="1088452"/>
            <a:ext cx="6489843" cy="658156"/>
          </a:xfrm>
        </p:spPr>
        <p:txBody>
          <a:bodyPr>
            <a:normAutofit/>
          </a:bodyPr>
          <a:lstStyle/>
          <a:p>
            <a:pPr marL="0" indent="0">
              <a:buNone/>
            </a:pPr>
            <a:r>
              <a:rPr lang="en-US" sz="1600" b="1" dirty="0"/>
              <a:t>Total Revenue -</a:t>
            </a:r>
            <a:r>
              <a:rPr lang="en-US" sz="1600" dirty="0"/>
              <a:t> $12.64M</a:t>
            </a:r>
            <a:endParaRPr lang="en-US" sz="1600" b="1" dirty="0"/>
          </a:p>
          <a:p>
            <a:pPr marL="0" indent="0">
              <a:buNone/>
            </a:pPr>
            <a:r>
              <a:rPr lang="en-US" sz="1400" dirty="0"/>
              <a:t>This is the total income generated from all sales of goods from the stores globally.</a:t>
            </a:r>
          </a:p>
        </p:txBody>
      </p:sp>
      <p:pic>
        <p:nvPicPr>
          <p:cNvPr id="8" name="Picture 7">
            <a:extLst>
              <a:ext uri="{FF2B5EF4-FFF2-40B4-BE49-F238E27FC236}">
                <a16:creationId xmlns:a16="http://schemas.microsoft.com/office/drawing/2014/main" id="{DBB3A6F0-68AB-EB3A-E00C-9E1A17BE4B0A}"/>
              </a:ext>
            </a:extLst>
          </p:cNvPr>
          <p:cNvPicPr>
            <a:picLocks noChangeAspect="1"/>
          </p:cNvPicPr>
          <p:nvPr/>
        </p:nvPicPr>
        <p:blipFill>
          <a:blip r:embed="rId2">
            <a:extLst>
              <a:ext uri="{28A0092B-C50C-407E-A947-70E740481C1C}">
                <a14:useLocalDpi xmlns:a14="http://schemas.microsoft.com/office/drawing/2010/main" val="0"/>
              </a:ext>
            </a:extLst>
          </a:blip>
          <a:srcRect l="5616" t="32147" r="15554"/>
          <a:stretch>
            <a:fillRect/>
          </a:stretch>
        </p:blipFill>
        <p:spPr>
          <a:xfrm>
            <a:off x="5263646" y="728714"/>
            <a:ext cx="6928354" cy="5660771"/>
          </a:xfrm>
          <a:prstGeom prst="rect">
            <a:avLst/>
          </a:prstGeom>
        </p:spPr>
      </p:pic>
      <p:pic>
        <p:nvPicPr>
          <p:cNvPr id="9" name="Picture 8">
            <a:extLst>
              <a:ext uri="{FF2B5EF4-FFF2-40B4-BE49-F238E27FC236}">
                <a16:creationId xmlns:a16="http://schemas.microsoft.com/office/drawing/2014/main" id="{69F536FD-7132-859F-1AA5-8BA0BFA3A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60" y="1121245"/>
            <a:ext cx="368488" cy="368796"/>
          </a:xfrm>
          <a:prstGeom prst="rect">
            <a:avLst/>
          </a:prstGeom>
        </p:spPr>
      </p:pic>
      <p:pic>
        <p:nvPicPr>
          <p:cNvPr id="10" name="Picture 9">
            <a:extLst>
              <a:ext uri="{FF2B5EF4-FFF2-40B4-BE49-F238E27FC236}">
                <a16:creationId xmlns:a16="http://schemas.microsoft.com/office/drawing/2014/main" id="{7A72FCBE-85C4-AFF6-3BBD-AF7C686BFD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60" y="1924179"/>
            <a:ext cx="368488" cy="368796"/>
          </a:xfrm>
          <a:prstGeom prst="rect">
            <a:avLst/>
          </a:prstGeom>
        </p:spPr>
      </p:pic>
      <p:sp>
        <p:nvSpPr>
          <p:cNvPr id="11" name="Content Placeholder 2">
            <a:extLst>
              <a:ext uri="{FF2B5EF4-FFF2-40B4-BE49-F238E27FC236}">
                <a16:creationId xmlns:a16="http://schemas.microsoft.com/office/drawing/2014/main" id="{47242104-1F6C-4EDB-F805-60B34C5580E1}"/>
              </a:ext>
            </a:extLst>
          </p:cNvPr>
          <p:cNvSpPr txBox="1">
            <a:spLocks/>
          </p:cNvSpPr>
          <p:nvPr/>
        </p:nvSpPr>
        <p:spPr>
          <a:xfrm>
            <a:off x="867635" y="1853082"/>
            <a:ext cx="6127679" cy="671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Total Orders - </a:t>
            </a:r>
            <a:r>
              <a:rPr lang="en-US" sz="1600" dirty="0"/>
              <a:t>25,035</a:t>
            </a:r>
            <a:endParaRPr lang="en-US" sz="1600" b="1" dirty="0"/>
          </a:p>
          <a:p>
            <a:pPr marL="0" indent="0">
              <a:buFont typeface="Arial" panose="020B0604020202020204" pitchFamily="34" charset="0"/>
              <a:buNone/>
            </a:pPr>
            <a:r>
              <a:rPr lang="en-US" sz="1400" dirty="0"/>
              <a:t>This is the total number of customer orders placed from all the store.</a:t>
            </a:r>
          </a:p>
        </p:txBody>
      </p:sp>
      <p:sp>
        <p:nvSpPr>
          <p:cNvPr id="4" name="Content Placeholder 2">
            <a:extLst>
              <a:ext uri="{FF2B5EF4-FFF2-40B4-BE49-F238E27FC236}">
                <a16:creationId xmlns:a16="http://schemas.microsoft.com/office/drawing/2014/main" id="{27B78FAB-8EF1-2953-616B-ED1C6FB41534}"/>
              </a:ext>
            </a:extLst>
          </p:cNvPr>
          <p:cNvSpPr txBox="1">
            <a:spLocks/>
          </p:cNvSpPr>
          <p:nvPr/>
        </p:nvSpPr>
        <p:spPr>
          <a:xfrm>
            <a:off x="867635" y="2627844"/>
            <a:ext cx="6127679" cy="6710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Total Quantity Sold:</a:t>
            </a:r>
            <a:r>
              <a:rPr lang="en-US" sz="1600" dirty="0"/>
              <a:t> 175K</a:t>
            </a:r>
          </a:p>
          <a:p>
            <a:pPr marL="0" indent="0">
              <a:buFont typeface="Arial" panose="020B0604020202020204" pitchFamily="34" charset="0"/>
              <a:buNone/>
            </a:pPr>
            <a:r>
              <a:rPr lang="en-US" sz="1400" dirty="0"/>
              <a:t>This is the total number of units sold across all regions.</a:t>
            </a:r>
            <a:endParaRPr lang="en-US" sz="1600" dirty="0"/>
          </a:p>
        </p:txBody>
      </p:sp>
      <p:sp>
        <p:nvSpPr>
          <p:cNvPr id="5" name="Content Placeholder 2">
            <a:extLst>
              <a:ext uri="{FF2B5EF4-FFF2-40B4-BE49-F238E27FC236}">
                <a16:creationId xmlns:a16="http://schemas.microsoft.com/office/drawing/2014/main" id="{C58F57AF-98F7-7C63-1B91-A221BEC6D4B2}"/>
              </a:ext>
            </a:extLst>
          </p:cNvPr>
          <p:cNvSpPr txBox="1">
            <a:spLocks/>
          </p:cNvSpPr>
          <p:nvPr/>
        </p:nvSpPr>
        <p:spPr>
          <a:xfrm>
            <a:off x="867633" y="3402607"/>
            <a:ext cx="6127679" cy="6581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Average Order Value:</a:t>
            </a:r>
            <a:r>
              <a:rPr lang="en-US" sz="1600" dirty="0"/>
              <a:t> $505</a:t>
            </a:r>
          </a:p>
          <a:p>
            <a:pPr marL="0" indent="0">
              <a:buFont typeface="Arial" panose="020B0604020202020204" pitchFamily="34" charset="0"/>
              <a:buNone/>
            </a:pPr>
            <a:r>
              <a:rPr lang="en-US" sz="1400" dirty="0"/>
              <a:t>This is the average amount spent per order across different markets.</a:t>
            </a:r>
          </a:p>
        </p:txBody>
      </p:sp>
      <p:sp>
        <p:nvSpPr>
          <p:cNvPr id="6" name="Content Placeholder 2">
            <a:extLst>
              <a:ext uri="{FF2B5EF4-FFF2-40B4-BE49-F238E27FC236}">
                <a16:creationId xmlns:a16="http://schemas.microsoft.com/office/drawing/2014/main" id="{C951AF3C-202D-209F-D997-CD6FE8BB1557}"/>
              </a:ext>
            </a:extLst>
          </p:cNvPr>
          <p:cNvSpPr txBox="1">
            <a:spLocks/>
          </p:cNvSpPr>
          <p:nvPr/>
        </p:nvSpPr>
        <p:spPr>
          <a:xfrm>
            <a:off x="867634" y="4247667"/>
            <a:ext cx="6127679" cy="658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Profit Margin:</a:t>
            </a:r>
            <a:r>
              <a:rPr lang="en-US" sz="1600" dirty="0"/>
              <a:t> 11.61%</a:t>
            </a:r>
          </a:p>
          <a:p>
            <a:pPr marL="0" indent="0">
              <a:buFont typeface="Arial" panose="020B0604020202020204" pitchFamily="34" charset="0"/>
              <a:buNone/>
            </a:pPr>
            <a:r>
              <a:rPr lang="en-US" sz="1400" dirty="0"/>
              <a:t>Percentage of revenue remains after deduction of expenses.</a:t>
            </a:r>
          </a:p>
        </p:txBody>
      </p:sp>
      <p:sp>
        <p:nvSpPr>
          <p:cNvPr id="7" name="Content Placeholder 2">
            <a:extLst>
              <a:ext uri="{FF2B5EF4-FFF2-40B4-BE49-F238E27FC236}">
                <a16:creationId xmlns:a16="http://schemas.microsoft.com/office/drawing/2014/main" id="{52D1BE67-22B1-15B0-F066-F4848D77E31F}"/>
              </a:ext>
            </a:extLst>
          </p:cNvPr>
          <p:cNvSpPr txBox="1">
            <a:spLocks/>
          </p:cNvSpPr>
          <p:nvPr/>
        </p:nvSpPr>
        <p:spPr>
          <a:xfrm>
            <a:off x="867633" y="5009530"/>
            <a:ext cx="6127679" cy="6581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Total Customer Debt:</a:t>
            </a:r>
            <a:r>
              <a:rPr lang="en-US" sz="1600" dirty="0"/>
              <a:t> -$65.51K</a:t>
            </a:r>
          </a:p>
          <a:p>
            <a:pPr marL="0" indent="0">
              <a:buFont typeface="Arial" panose="020B0604020202020204" pitchFamily="34" charset="0"/>
              <a:buNone/>
            </a:pPr>
            <a:r>
              <a:rPr lang="en-US" sz="1400" dirty="0"/>
              <a:t>This is the net amount owed by customers</a:t>
            </a:r>
          </a:p>
        </p:txBody>
      </p:sp>
      <p:sp>
        <p:nvSpPr>
          <p:cNvPr id="12" name="Content Placeholder 2">
            <a:extLst>
              <a:ext uri="{FF2B5EF4-FFF2-40B4-BE49-F238E27FC236}">
                <a16:creationId xmlns:a16="http://schemas.microsoft.com/office/drawing/2014/main" id="{CA6C64B3-0343-AFFB-1D4D-6E0523D8E810}"/>
              </a:ext>
            </a:extLst>
          </p:cNvPr>
          <p:cNvSpPr txBox="1">
            <a:spLocks/>
          </p:cNvSpPr>
          <p:nvPr/>
        </p:nvSpPr>
        <p:spPr>
          <a:xfrm>
            <a:off x="867633" y="5769548"/>
            <a:ext cx="6127679" cy="741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Total Customer Debt:</a:t>
            </a:r>
            <a:r>
              <a:rPr lang="en-US" sz="1600" dirty="0"/>
              <a:t> -$65.51K</a:t>
            </a:r>
          </a:p>
          <a:p>
            <a:pPr marL="0" indent="0">
              <a:buFont typeface="Arial" panose="020B0604020202020204" pitchFamily="34" charset="0"/>
              <a:buNone/>
            </a:pPr>
            <a:r>
              <a:rPr lang="en-US" sz="1400" dirty="0"/>
              <a:t>This is the net amount owed by customers</a:t>
            </a:r>
          </a:p>
        </p:txBody>
      </p:sp>
      <p:pic>
        <p:nvPicPr>
          <p:cNvPr id="13" name="Picture 12">
            <a:extLst>
              <a:ext uri="{FF2B5EF4-FFF2-40B4-BE49-F238E27FC236}">
                <a16:creationId xmlns:a16="http://schemas.microsoft.com/office/drawing/2014/main" id="{05ABD251-730C-BF56-730E-6C7B03665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60" y="2707140"/>
            <a:ext cx="368488" cy="368796"/>
          </a:xfrm>
          <a:prstGeom prst="rect">
            <a:avLst/>
          </a:prstGeom>
        </p:spPr>
      </p:pic>
      <p:pic>
        <p:nvPicPr>
          <p:cNvPr id="14" name="Picture 13">
            <a:extLst>
              <a:ext uri="{FF2B5EF4-FFF2-40B4-BE49-F238E27FC236}">
                <a16:creationId xmlns:a16="http://schemas.microsoft.com/office/drawing/2014/main" id="{FB1362EF-A3FD-8AD6-A62F-5261CFA2DA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263" y="3464706"/>
            <a:ext cx="368488" cy="368796"/>
          </a:xfrm>
          <a:prstGeom prst="rect">
            <a:avLst/>
          </a:prstGeom>
        </p:spPr>
      </p:pic>
      <p:pic>
        <p:nvPicPr>
          <p:cNvPr id="15" name="Picture 14">
            <a:extLst>
              <a:ext uri="{FF2B5EF4-FFF2-40B4-BE49-F238E27FC236}">
                <a16:creationId xmlns:a16="http://schemas.microsoft.com/office/drawing/2014/main" id="{5AE93F9E-5ACE-16CA-67CC-63C3002B7E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60" y="4247667"/>
            <a:ext cx="368488" cy="368796"/>
          </a:xfrm>
          <a:prstGeom prst="rect">
            <a:avLst/>
          </a:prstGeom>
        </p:spPr>
      </p:pic>
      <p:pic>
        <p:nvPicPr>
          <p:cNvPr id="16" name="Picture 15">
            <a:extLst>
              <a:ext uri="{FF2B5EF4-FFF2-40B4-BE49-F238E27FC236}">
                <a16:creationId xmlns:a16="http://schemas.microsoft.com/office/drawing/2014/main" id="{3BC6BDFF-69FA-23AF-5E8B-7A480D055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60" y="5005233"/>
            <a:ext cx="368488" cy="368796"/>
          </a:xfrm>
          <a:prstGeom prst="rect">
            <a:avLst/>
          </a:prstGeom>
        </p:spPr>
      </p:pic>
      <p:pic>
        <p:nvPicPr>
          <p:cNvPr id="17" name="Picture 16">
            <a:extLst>
              <a:ext uri="{FF2B5EF4-FFF2-40B4-BE49-F238E27FC236}">
                <a16:creationId xmlns:a16="http://schemas.microsoft.com/office/drawing/2014/main" id="{3B3FAE37-D458-91A6-30BD-16AA1EA423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60" y="5823761"/>
            <a:ext cx="368488" cy="368796"/>
          </a:xfrm>
          <a:prstGeom prst="rect">
            <a:avLst/>
          </a:prstGeom>
        </p:spPr>
      </p:pic>
    </p:spTree>
    <p:extLst>
      <p:ext uri="{BB962C8B-B14F-4D97-AF65-F5344CB8AC3E}">
        <p14:creationId xmlns:p14="http://schemas.microsoft.com/office/powerpoint/2010/main" val="300615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5BA41-D2CE-21D1-9758-BD26673CC6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391A25-2025-904C-5C7F-B74AEF804E70}"/>
              </a:ext>
            </a:extLst>
          </p:cNvPr>
          <p:cNvSpPr/>
          <p:nvPr/>
        </p:nvSpPr>
        <p:spPr>
          <a:xfrm>
            <a:off x="0" y="0"/>
            <a:ext cx="12192000" cy="137673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8CA8D2-A13E-A34C-D960-893C5B4BBA54}"/>
              </a:ext>
            </a:extLst>
          </p:cNvPr>
          <p:cNvSpPr>
            <a:spLocks noGrp="1"/>
          </p:cNvSpPr>
          <p:nvPr>
            <p:ph type="title"/>
          </p:nvPr>
        </p:nvSpPr>
        <p:spPr>
          <a:xfrm>
            <a:off x="1" y="158102"/>
            <a:ext cx="8455630" cy="1060532"/>
          </a:xfrm>
        </p:spPr>
        <p:txBody>
          <a:bodyPr>
            <a:noAutofit/>
          </a:bodyPr>
          <a:lstStyle/>
          <a:p>
            <a:pPr algn="ctr"/>
            <a:r>
              <a:rPr lang="en-US" sz="5400" b="1" dirty="0">
                <a:solidFill>
                  <a:schemeClr val="bg1"/>
                </a:solidFill>
              </a:rPr>
              <a:t>BUSINESS OBJECTIVES</a:t>
            </a:r>
          </a:p>
        </p:txBody>
      </p:sp>
      <p:sp>
        <p:nvSpPr>
          <p:cNvPr id="9" name="Rectangle 8">
            <a:extLst>
              <a:ext uri="{FF2B5EF4-FFF2-40B4-BE49-F238E27FC236}">
                <a16:creationId xmlns:a16="http://schemas.microsoft.com/office/drawing/2014/main" id="{24299322-918C-C4BB-024A-18CDD0A7F978}"/>
              </a:ext>
            </a:extLst>
          </p:cNvPr>
          <p:cNvSpPr/>
          <p:nvPr/>
        </p:nvSpPr>
        <p:spPr>
          <a:xfrm>
            <a:off x="8907694" y="0"/>
            <a:ext cx="3284306" cy="263018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95CBDE-32B8-C341-FCE1-F75A7B221216}"/>
              </a:ext>
            </a:extLst>
          </p:cNvPr>
          <p:cNvSpPr>
            <a:spLocks noGrp="1"/>
          </p:cNvSpPr>
          <p:nvPr>
            <p:ph idx="1"/>
          </p:nvPr>
        </p:nvSpPr>
        <p:spPr>
          <a:xfrm>
            <a:off x="215757" y="1710648"/>
            <a:ext cx="11281024" cy="5147352"/>
          </a:xfrm>
        </p:spPr>
        <p:txBody>
          <a:bodyPr>
            <a:noAutofit/>
          </a:bodyPr>
          <a:lstStyle/>
          <a:p>
            <a:pPr marL="0" indent="0">
              <a:lnSpc>
                <a:spcPct val="170000"/>
              </a:lnSpc>
              <a:buNone/>
            </a:pPr>
            <a:r>
              <a:rPr lang="en-US" sz="2400" dirty="0"/>
              <a:t>This analysis was guided by the following business objectives:</a:t>
            </a:r>
          </a:p>
          <a:p>
            <a:pPr lvl="1">
              <a:lnSpc>
                <a:spcPct val="170000"/>
              </a:lnSpc>
            </a:pPr>
            <a:r>
              <a:rPr lang="en-US" dirty="0"/>
              <a:t>Monitor overall sales and profit trends to assess business performance</a:t>
            </a:r>
          </a:p>
          <a:p>
            <a:pPr lvl="1">
              <a:lnSpc>
                <a:spcPct val="170000"/>
              </a:lnSpc>
            </a:pPr>
            <a:r>
              <a:rPr lang="en-US" dirty="0"/>
              <a:t>Identify regions, products, and customers driving losses for targeted improvements</a:t>
            </a:r>
          </a:p>
          <a:p>
            <a:pPr lvl="1">
              <a:lnSpc>
                <a:spcPct val="170000"/>
              </a:lnSpc>
            </a:pPr>
            <a:r>
              <a:rPr lang="en-US" dirty="0"/>
              <a:t>Highlight top-performing products and customers to inform growth strategies</a:t>
            </a:r>
          </a:p>
          <a:p>
            <a:pPr lvl="1">
              <a:lnSpc>
                <a:spcPct val="170000"/>
              </a:lnSpc>
            </a:pPr>
            <a:r>
              <a:rPr lang="en-US" dirty="0"/>
              <a:t>Analyze discount strategies and their effect on profit margins</a:t>
            </a:r>
          </a:p>
          <a:p>
            <a:pPr lvl="1">
              <a:lnSpc>
                <a:spcPct val="170000"/>
              </a:lnSpc>
            </a:pPr>
            <a:r>
              <a:rPr lang="en-US" dirty="0"/>
              <a:t>Manage outstanding customer balances to strengthen cash flow and reduce risk</a:t>
            </a:r>
          </a:p>
          <a:p>
            <a:pPr lvl="1">
              <a:lnSpc>
                <a:spcPct val="170000"/>
              </a:lnSpc>
            </a:pPr>
            <a:r>
              <a:rPr lang="en-US" dirty="0"/>
              <a:t>Deliver actionable insights through data visualization for informed decision-making</a:t>
            </a:r>
          </a:p>
        </p:txBody>
      </p:sp>
      <p:pic>
        <p:nvPicPr>
          <p:cNvPr id="8" name="Picture 7">
            <a:extLst>
              <a:ext uri="{FF2B5EF4-FFF2-40B4-BE49-F238E27FC236}">
                <a16:creationId xmlns:a16="http://schemas.microsoft.com/office/drawing/2014/main" id="{3767A503-1FE7-6F3A-2203-BD596BFC114C}"/>
              </a:ext>
            </a:extLst>
          </p:cNvPr>
          <p:cNvPicPr>
            <a:picLocks noChangeAspect="1"/>
          </p:cNvPicPr>
          <p:nvPr/>
        </p:nvPicPr>
        <p:blipFill>
          <a:blip r:embed="rId2">
            <a:extLst>
              <a:ext uri="{28A0092B-C50C-407E-A947-70E740481C1C}">
                <a14:useLocalDpi xmlns:a14="http://schemas.microsoft.com/office/drawing/2010/main" val="0"/>
              </a:ext>
            </a:extLst>
          </a:blip>
          <a:srcRect l="42482" b="19489"/>
          <a:stretch>
            <a:fillRect/>
          </a:stretch>
        </p:blipFill>
        <p:spPr>
          <a:xfrm>
            <a:off x="8907694" y="-1"/>
            <a:ext cx="3284305" cy="2630185"/>
          </a:xfrm>
          <a:prstGeom prst="rect">
            <a:avLst/>
          </a:prstGeom>
        </p:spPr>
      </p:pic>
    </p:spTree>
    <p:extLst>
      <p:ext uri="{BB962C8B-B14F-4D97-AF65-F5344CB8AC3E}">
        <p14:creationId xmlns:p14="http://schemas.microsoft.com/office/powerpoint/2010/main" val="694200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06FB5-2ACD-798F-AC49-BB0D7AB28EB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E20E34A7-5CD7-9E5F-52B2-952B0844D49D}"/>
              </a:ext>
            </a:extLst>
          </p:cNvPr>
          <p:cNvSpPr/>
          <p:nvPr/>
        </p:nvSpPr>
        <p:spPr>
          <a:xfrm>
            <a:off x="0" y="0"/>
            <a:ext cx="12192000" cy="113406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EE8E65E-F2EF-9B8B-0A15-9F6D6771B96E}"/>
              </a:ext>
            </a:extLst>
          </p:cNvPr>
          <p:cNvSpPr>
            <a:spLocks noGrp="1"/>
          </p:cNvSpPr>
          <p:nvPr>
            <p:ph type="title"/>
          </p:nvPr>
        </p:nvSpPr>
        <p:spPr>
          <a:xfrm>
            <a:off x="838200" y="87410"/>
            <a:ext cx="10515600" cy="1187254"/>
          </a:xfrm>
        </p:spPr>
        <p:txBody>
          <a:bodyPr/>
          <a:lstStyle/>
          <a:p>
            <a:pPr algn="ctr"/>
            <a:r>
              <a:rPr lang="en-US" b="1" dirty="0">
                <a:solidFill>
                  <a:schemeClr val="bg1"/>
                </a:solidFill>
              </a:rPr>
              <a:t>KEY INSIGHTS</a:t>
            </a:r>
          </a:p>
        </p:txBody>
      </p:sp>
      <p:pic>
        <p:nvPicPr>
          <p:cNvPr id="9" name="Content Placeholder 8">
            <a:extLst>
              <a:ext uri="{FF2B5EF4-FFF2-40B4-BE49-F238E27FC236}">
                <a16:creationId xmlns:a16="http://schemas.microsoft.com/office/drawing/2014/main" id="{4FCBB52B-0985-0730-C6F1-3728CA7361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564" y="1876926"/>
            <a:ext cx="7491374" cy="4687503"/>
          </a:xfrm>
        </p:spPr>
      </p:pic>
      <p:sp>
        <p:nvSpPr>
          <p:cNvPr id="12" name="TextBox 11">
            <a:extLst>
              <a:ext uri="{FF2B5EF4-FFF2-40B4-BE49-F238E27FC236}">
                <a16:creationId xmlns:a16="http://schemas.microsoft.com/office/drawing/2014/main" id="{2BBE7676-BB8C-9180-5B08-A68570C15EBF}"/>
              </a:ext>
            </a:extLst>
          </p:cNvPr>
          <p:cNvSpPr txBox="1"/>
          <p:nvPr/>
        </p:nvSpPr>
        <p:spPr>
          <a:xfrm>
            <a:off x="7624938" y="2727504"/>
            <a:ext cx="4294598" cy="2677656"/>
          </a:xfrm>
          <a:prstGeom prst="rect">
            <a:avLst/>
          </a:prstGeom>
          <a:noFill/>
        </p:spPr>
        <p:txBody>
          <a:bodyPr wrap="square" rtlCol="0">
            <a:spAutoFit/>
          </a:bodyPr>
          <a:lstStyle/>
          <a:p>
            <a:r>
              <a:rPr lang="en-US" sz="2800" dirty="0"/>
              <a:t>Sales increased consistently every year, from 2011 to 2014, sales grew by $2.04M overall. That represents nearly 90% total growth over four years.</a:t>
            </a:r>
          </a:p>
        </p:txBody>
      </p:sp>
      <p:sp>
        <p:nvSpPr>
          <p:cNvPr id="4" name="TextBox 3">
            <a:extLst>
              <a:ext uri="{FF2B5EF4-FFF2-40B4-BE49-F238E27FC236}">
                <a16:creationId xmlns:a16="http://schemas.microsoft.com/office/drawing/2014/main" id="{42A4F4F8-F519-A30E-EE20-14EB0C7AE172}"/>
              </a:ext>
            </a:extLst>
          </p:cNvPr>
          <p:cNvSpPr txBox="1"/>
          <p:nvPr/>
        </p:nvSpPr>
        <p:spPr>
          <a:xfrm>
            <a:off x="133564" y="1274664"/>
            <a:ext cx="8357937" cy="461665"/>
          </a:xfrm>
          <a:prstGeom prst="rect">
            <a:avLst/>
          </a:prstGeom>
          <a:noFill/>
        </p:spPr>
        <p:txBody>
          <a:bodyPr wrap="square" rtlCol="0">
            <a:spAutoFit/>
          </a:bodyPr>
          <a:lstStyle/>
          <a:p>
            <a:r>
              <a:rPr lang="en-US" sz="2400" b="1" dirty="0"/>
              <a:t>TIME-BASED SALES PERFORMANCE ANALYSIS</a:t>
            </a:r>
          </a:p>
        </p:txBody>
      </p:sp>
    </p:spTree>
    <p:extLst>
      <p:ext uri="{BB962C8B-B14F-4D97-AF65-F5344CB8AC3E}">
        <p14:creationId xmlns:p14="http://schemas.microsoft.com/office/powerpoint/2010/main" val="343057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D7EDE-9CBB-BBE2-1109-B173A168A84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52AD939-D710-4B25-77C4-21C27518D6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295" y="303026"/>
            <a:ext cx="11445410" cy="3529236"/>
          </a:xfrm>
        </p:spPr>
      </p:pic>
      <p:sp>
        <p:nvSpPr>
          <p:cNvPr id="10" name="TextBox 9">
            <a:extLst>
              <a:ext uri="{FF2B5EF4-FFF2-40B4-BE49-F238E27FC236}">
                <a16:creationId xmlns:a16="http://schemas.microsoft.com/office/drawing/2014/main" id="{A92BD639-F34F-ADC1-9E52-1F48FD12DA27}"/>
              </a:ext>
            </a:extLst>
          </p:cNvPr>
          <p:cNvSpPr txBox="1"/>
          <p:nvPr/>
        </p:nvSpPr>
        <p:spPr>
          <a:xfrm>
            <a:off x="214045" y="3935003"/>
            <a:ext cx="11763910" cy="2435731"/>
          </a:xfrm>
          <a:prstGeom prst="rect">
            <a:avLst/>
          </a:prstGeom>
          <a:noFill/>
        </p:spPr>
        <p:txBody>
          <a:bodyPr wrap="square" rtlCol="0">
            <a:spAutoFit/>
          </a:bodyPr>
          <a:lstStyle/>
          <a:p>
            <a:pPr marL="342900" indent="-342900">
              <a:lnSpc>
                <a:spcPct val="150000"/>
              </a:lnSpc>
              <a:buClr>
                <a:srgbClr val="018FD1"/>
              </a:buClr>
              <a:buFont typeface="Wingdings" panose="05000000000000000000" pitchFamily="2" charset="2"/>
              <a:buChar char="ü"/>
            </a:pPr>
            <a:r>
              <a:rPr lang="en-US" sz="2000" dirty="0"/>
              <a:t>Q3 (July - Sep) and Q4 (Oct - Dec) are high-performance periods. July appears to be a recurring risk month with a decrease in sales and profit.</a:t>
            </a:r>
          </a:p>
          <a:p>
            <a:pPr marL="342900" indent="-342900">
              <a:lnSpc>
                <a:spcPct val="150000"/>
              </a:lnSpc>
              <a:buClr>
                <a:srgbClr val="018FD1"/>
              </a:buClr>
              <a:buFont typeface="Wingdings" panose="05000000000000000000" pitchFamily="2" charset="2"/>
              <a:buChar char="ü"/>
            </a:pPr>
            <a:r>
              <a:rPr lang="en-US" sz="2000" dirty="0"/>
              <a:t>July shows both sales decline and profit drop. However, profit steadily improves toward Q4.</a:t>
            </a:r>
          </a:p>
          <a:p>
            <a:pPr marL="342900" indent="-342900">
              <a:lnSpc>
                <a:spcPct val="150000"/>
              </a:lnSpc>
              <a:buClr>
                <a:srgbClr val="018FD1"/>
              </a:buClr>
              <a:buFont typeface="Wingdings" panose="05000000000000000000" pitchFamily="2" charset="2"/>
              <a:buChar char="ü"/>
            </a:pPr>
            <a:r>
              <a:rPr lang="en-US" sz="2000" dirty="0"/>
              <a:t>While December has the most sales, November generates the highest overall profit at $175.4K, followed closely by December ($170.7K) and September ($170.4K).</a:t>
            </a:r>
          </a:p>
        </p:txBody>
      </p:sp>
    </p:spTree>
    <p:extLst>
      <p:ext uri="{BB962C8B-B14F-4D97-AF65-F5344CB8AC3E}">
        <p14:creationId xmlns:p14="http://schemas.microsoft.com/office/powerpoint/2010/main" val="3624956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A3E6-2F33-13F1-0706-B4E5E3AEA5F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E5A8E68-076C-E26D-99DC-583064860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405" y="596765"/>
            <a:ext cx="11533779" cy="3715141"/>
          </a:xfrm>
          <a:prstGeom prst="rect">
            <a:avLst/>
          </a:prstGeom>
        </p:spPr>
      </p:pic>
      <p:sp>
        <p:nvSpPr>
          <p:cNvPr id="2" name="TextBox 1">
            <a:extLst>
              <a:ext uri="{FF2B5EF4-FFF2-40B4-BE49-F238E27FC236}">
                <a16:creationId xmlns:a16="http://schemas.microsoft.com/office/drawing/2014/main" id="{CD878857-8138-DBB3-2C31-2501F6BBC465}"/>
              </a:ext>
            </a:extLst>
          </p:cNvPr>
          <p:cNvSpPr txBox="1"/>
          <p:nvPr/>
        </p:nvSpPr>
        <p:spPr>
          <a:xfrm>
            <a:off x="385011" y="4311907"/>
            <a:ext cx="11389173" cy="2126864"/>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dirty="0"/>
              <a:t>The Central region generates the highest total profit ($311.4K) driven by the largest sales volume (41.8K units), though its margin is moderate (11%).</a:t>
            </a:r>
          </a:p>
          <a:p>
            <a:pPr marL="285750" indent="-285750">
              <a:lnSpc>
                <a:spcPct val="150000"/>
              </a:lnSpc>
              <a:buClr>
                <a:srgbClr val="018FD1"/>
              </a:buClr>
              <a:buFont typeface="Wingdings" panose="05000000000000000000" pitchFamily="2" charset="2"/>
              <a:buChar char="ü"/>
            </a:pPr>
            <a:r>
              <a:rPr lang="en-US" dirty="0"/>
              <a:t>South and Southeast Asia underperform due to low profit margins despite maintaining moderate to high sales volumes.</a:t>
            </a:r>
          </a:p>
          <a:p>
            <a:pPr marL="285750" indent="-285750">
              <a:lnSpc>
                <a:spcPct val="150000"/>
              </a:lnSpc>
              <a:buClr>
                <a:srgbClr val="018FD1"/>
              </a:buClr>
              <a:buFont typeface="Wingdings" panose="05000000000000000000" pitchFamily="2" charset="2"/>
              <a:buChar char="ü"/>
            </a:pPr>
            <a:r>
              <a:rPr lang="en-US" dirty="0"/>
              <a:t>Canada has the highest profit margin at 26.6%, making it the most efficient and profitable region relative to revenue.</a:t>
            </a:r>
          </a:p>
        </p:txBody>
      </p:sp>
      <p:sp>
        <p:nvSpPr>
          <p:cNvPr id="3" name="TextBox 2">
            <a:extLst>
              <a:ext uri="{FF2B5EF4-FFF2-40B4-BE49-F238E27FC236}">
                <a16:creationId xmlns:a16="http://schemas.microsoft.com/office/drawing/2014/main" id="{1D2594B9-5E5D-F79C-5AC7-D6C9079FAA9A}"/>
              </a:ext>
            </a:extLst>
          </p:cNvPr>
          <p:cNvSpPr txBox="1"/>
          <p:nvPr/>
        </p:nvSpPr>
        <p:spPr>
          <a:xfrm>
            <a:off x="240405" y="119057"/>
            <a:ext cx="6853187" cy="461665"/>
          </a:xfrm>
          <a:prstGeom prst="rect">
            <a:avLst/>
          </a:prstGeom>
          <a:noFill/>
        </p:spPr>
        <p:txBody>
          <a:bodyPr wrap="square" rtlCol="0">
            <a:spAutoFit/>
          </a:bodyPr>
          <a:lstStyle/>
          <a:p>
            <a:r>
              <a:rPr lang="en-US" sz="2400" b="1" dirty="0"/>
              <a:t>MARKET PERFORMANCE ANALYSIS</a:t>
            </a:r>
          </a:p>
        </p:txBody>
      </p:sp>
    </p:spTree>
    <p:extLst>
      <p:ext uri="{BB962C8B-B14F-4D97-AF65-F5344CB8AC3E}">
        <p14:creationId xmlns:p14="http://schemas.microsoft.com/office/powerpoint/2010/main" val="770634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48811-177A-F9BC-847D-D6C5FD891FE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9302914-BCA1-D081-77ED-A51EDC52CD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98" y="715871"/>
            <a:ext cx="12041204" cy="3446741"/>
          </a:xfrm>
          <a:prstGeom prst="rect">
            <a:avLst/>
          </a:prstGeom>
        </p:spPr>
      </p:pic>
      <p:sp>
        <p:nvSpPr>
          <p:cNvPr id="10" name="TextBox 9">
            <a:extLst>
              <a:ext uri="{FF2B5EF4-FFF2-40B4-BE49-F238E27FC236}">
                <a16:creationId xmlns:a16="http://schemas.microsoft.com/office/drawing/2014/main" id="{A4C2C898-7BC1-23EC-8797-49DEA09091B7}"/>
              </a:ext>
            </a:extLst>
          </p:cNvPr>
          <p:cNvSpPr txBox="1"/>
          <p:nvPr/>
        </p:nvSpPr>
        <p:spPr>
          <a:xfrm>
            <a:off x="75398" y="129722"/>
            <a:ext cx="8117305" cy="461665"/>
          </a:xfrm>
          <a:prstGeom prst="rect">
            <a:avLst/>
          </a:prstGeom>
          <a:noFill/>
        </p:spPr>
        <p:txBody>
          <a:bodyPr wrap="square" rtlCol="0">
            <a:spAutoFit/>
          </a:bodyPr>
          <a:lstStyle/>
          <a:p>
            <a:r>
              <a:rPr lang="en-US" sz="2400" b="1" dirty="0"/>
              <a:t>PRODUCT CATEGORY AND SUB-CATEGORY ANALYSIS</a:t>
            </a:r>
          </a:p>
        </p:txBody>
      </p:sp>
      <p:sp>
        <p:nvSpPr>
          <p:cNvPr id="12" name="TextBox 11">
            <a:extLst>
              <a:ext uri="{FF2B5EF4-FFF2-40B4-BE49-F238E27FC236}">
                <a16:creationId xmlns:a16="http://schemas.microsoft.com/office/drawing/2014/main" id="{CF2C0866-CB9B-AE93-1488-363068B45F32}"/>
              </a:ext>
            </a:extLst>
          </p:cNvPr>
          <p:cNvSpPr txBox="1"/>
          <p:nvPr/>
        </p:nvSpPr>
        <p:spPr>
          <a:xfrm>
            <a:off x="354531" y="4287096"/>
            <a:ext cx="11482938" cy="2126864"/>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dirty="0"/>
              <a:t>Cisco Smart Phone (Full Size), Motorola Smart Phone (Full Size), Nokia Smart Phone (Full Size), Canon imageCLASS 2200 Advanced Copier, and Nokia Smart Phone (with Caller ID) appears to be both high selling and profit generating, indicating strong profit alignment.</a:t>
            </a:r>
          </a:p>
          <a:p>
            <a:pPr marL="285750" indent="-285750">
              <a:lnSpc>
                <a:spcPct val="150000"/>
              </a:lnSpc>
              <a:buClr>
                <a:srgbClr val="018FD1"/>
              </a:buClr>
              <a:buFont typeface="Wingdings" panose="05000000000000000000" pitchFamily="2" charset="2"/>
              <a:buChar char="ü"/>
            </a:pPr>
            <a:r>
              <a:rPr lang="en-US" dirty="0"/>
              <a:t>Apple Smart Phone (Full Size) leads in sales but does not add to profitability, suggesting thinner margins.</a:t>
            </a:r>
          </a:p>
          <a:p>
            <a:pPr marL="285750" indent="-285750">
              <a:lnSpc>
                <a:spcPct val="150000"/>
              </a:lnSpc>
              <a:buClr>
                <a:srgbClr val="018FD1"/>
              </a:buClr>
              <a:buFont typeface="Wingdings" panose="05000000000000000000" pitchFamily="2" charset="2"/>
              <a:buChar char="ü"/>
            </a:pPr>
            <a:r>
              <a:rPr lang="en-US" dirty="0"/>
              <a:t>The Canon imageCLASS 2200 generates the highest profit but ranks fifth in revenue, showing strong margin efficiency.</a:t>
            </a:r>
          </a:p>
        </p:txBody>
      </p:sp>
    </p:spTree>
    <p:extLst>
      <p:ext uri="{BB962C8B-B14F-4D97-AF65-F5344CB8AC3E}">
        <p14:creationId xmlns:p14="http://schemas.microsoft.com/office/powerpoint/2010/main" val="932185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3A63-36EA-5533-7D39-0A3C38B2D1C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7D95C2B-2D3E-2C08-80F0-107D00D0C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02" y="567742"/>
            <a:ext cx="11940337" cy="3349739"/>
          </a:xfrm>
          <a:prstGeom prst="rect">
            <a:avLst/>
          </a:prstGeom>
        </p:spPr>
      </p:pic>
      <p:sp>
        <p:nvSpPr>
          <p:cNvPr id="7" name="TextBox 6">
            <a:extLst>
              <a:ext uri="{FF2B5EF4-FFF2-40B4-BE49-F238E27FC236}">
                <a16:creationId xmlns:a16="http://schemas.microsoft.com/office/drawing/2014/main" id="{DDE6153B-94C4-262F-5A08-A8F12D057A59}"/>
              </a:ext>
            </a:extLst>
          </p:cNvPr>
          <p:cNvSpPr txBox="1"/>
          <p:nvPr/>
        </p:nvSpPr>
        <p:spPr>
          <a:xfrm>
            <a:off x="460407" y="3842535"/>
            <a:ext cx="11271183" cy="2678554"/>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sz="1900" dirty="0"/>
              <a:t>Technology is the most profitable category, generating approximately $663.8K, making it the primary profit driver.</a:t>
            </a:r>
          </a:p>
          <a:p>
            <a:pPr marL="285750" indent="-285750">
              <a:lnSpc>
                <a:spcPct val="150000"/>
              </a:lnSpc>
              <a:buClr>
                <a:srgbClr val="018FD1"/>
              </a:buClr>
              <a:buFont typeface="Wingdings" panose="05000000000000000000" pitchFamily="2" charset="2"/>
              <a:buChar char="ü"/>
            </a:pPr>
            <a:r>
              <a:rPr lang="en-US" sz="1900" dirty="0"/>
              <a:t>Copiers ($258.6K) generate the highest profit, followed by Phones ($216.7K).</a:t>
            </a:r>
          </a:p>
          <a:p>
            <a:pPr marL="285750" indent="-285750">
              <a:lnSpc>
                <a:spcPct val="150000"/>
              </a:lnSpc>
              <a:buClr>
                <a:srgbClr val="018FD1"/>
              </a:buClr>
              <a:buFont typeface="Wingdings" panose="05000000000000000000" pitchFamily="2" charset="2"/>
              <a:buChar char="ü"/>
            </a:pPr>
            <a:r>
              <a:rPr lang="en-US" sz="1900" dirty="0"/>
              <a:t>Tables show moderate sales ($757K) but generate a loss (-$64.1K), indicating serious margin issues.</a:t>
            </a:r>
          </a:p>
          <a:p>
            <a:pPr marL="285750" indent="-285750">
              <a:lnSpc>
                <a:spcPct val="150000"/>
              </a:lnSpc>
              <a:buClr>
                <a:srgbClr val="018FD1"/>
              </a:buClr>
              <a:buFont typeface="Wingdings" panose="05000000000000000000" pitchFamily="2" charset="2"/>
              <a:buChar char="ü"/>
            </a:pPr>
            <a:r>
              <a:rPr lang="en-US" sz="1900" dirty="0"/>
              <a:t>Machines generate approximately $58.9K profit on $779K in sales, indicating a relatively low profit to sales ratio and suggesting potential margin pressure that requires close monitoring and cost optimization review.</a:t>
            </a:r>
          </a:p>
        </p:txBody>
      </p:sp>
      <p:sp>
        <p:nvSpPr>
          <p:cNvPr id="2" name="TextBox 1">
            <a:extLst>
              <a:ext uri="{FF2B5EF4-FFF2-40B4-BE49-F238E27FC236}">
                <a16:creationId xmlns:a16="http://schemas.microsoft.com/office/drawing/2014/main" id="{B5C262EA-9144-DA49-EC75-3B5A2FEFDAA1}"/>
              </a:ext>
            </a:extLst>
          </p:cNvPr>
          <p:cNvSpPr txBox="1"/>
          <p:nvPr/>
        </p:nvSpPr>
        <p:spPr>
          <a:xfrm>
            <a:off x="174660" y="106078"/>
            <a:ext cx="8117305" cy="461665"/>
          </a:xfrm>
          <a:prstGeom prst="rect">
            <a:avLst/>
          </a:prstGeom>
          <a:noFill/>
        </p:spPr>
        <p:txBody>
          <a:bodyPr wrap="square" rtlCol="0">
            <a:spAutoFit/>
          </a:bodyPr>
          <a:lstStyle/>
          <a:p>
            <a:r>
              <a:rPr lang="en-US" sz="2400" b="1" dirty="0"/>
              <a:t>Category And Sub-category Analysis</a:t>
            </a:r>
          </a:p>
        </p:txBody>
      </p:sp>
    </p:spTree>
    <p:extLst>
      <p:ext uri="{BB962C8B-B14F-4D97-AF65-F5344CB8AC3E}">
        <p14:creationId xmlns:p14="http://schemas.microsoft.com/office/powerpoint/2010/main" val="838658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D38EC-F4FC-4D13-36DD-B8E69BE94CB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54D5C5F-3BAF-AD6A-4253-AC88DA66D266}"/>
              </a:ext>
            </a:extLst>
          </p:cNvPr>
          <p:cNvSpPr txBox="1"/>
          <p:nvPr/>
        </p:nvSpPr>
        <p:spPr>
          <a:xfrm>
            <a:off x="174660" y="4963482"/>
            <a:ext cx="11271183" cy="924227"/>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sz="1900" dirty="0"/>
              <a:t>Cindy Stewart with an outstanding balance of (-$6,151).</a:t>
            </a:r>
          </a:p>
          <a:p>
            <a:pPr marL="285750" indent="-285750">
              <a:lnSpc>
                <a:spcPct val="150000"/>
              </a:lnSpc>
              <a:buClr>
                <a:srgbClr val="018FD1"/>
              </a:buClr>
              <a:buFont typeface="Wingdings" panose="05000000000000000000" pitchFamily="2" charset="2"/>
              <a:buChar char="ü"/>
            </a:pPr>
            <a:r>
              <a:rPr lang="en-US" sz="1900" dirty="0"/>
              <a:t>Customers with large negative balances suggest delayed payments or extended credit terms.</a:t>
            </a:r>
          </a:p>
        </p:txBody>
      </p:sp>
      <p:sp>
        <p:nvSpPr>
          <p:cNvPr id="2" name="TextBox 1">
            <a:extLst>
              <a:ext uri="{FF2B5EF4-FFF2-40B4-BE49-F238E27FC236}">
                <a16:creationId xmlns:a16="http://schemas.microsoft.com/office/drawing/2014/main" id="{4D564EB0-E446-F27C-4E36-62C8E0E3232F}"/>
              </a:ext>
            </a:extLst>
          </p:cNvPr>
          <p:cNvSpPr txBox="1"/>
          <p:nvPr/>
        </p:nvSpPr>
        <p:spPr>
          <a:xfrm>
            <a:off x="174660" y="106078"/>
            <a:ext cx="8117305" cy="461665"/>
          </a:xfrm>
          <a:prstGeom prst="rect">
            <a:avLst/>
          </a:prstGeom>
          <a:noFill/>
        </p:spPr>
        <p:txBody>
          <a:bodyPr wrap="square" rtlCol="0">
            <a:spAutoFit/>
          </a:bodyPr>
          <a:lstStyle/>
          <a:p>
            <a:r>
              <a:rPr lang="en-US" sz="2400" b="1" dirty="0"/>
              <a:t>RISK AND LOSS ANALYSIS</a:t>
            </a:r>
          </a:p>
        </p:txBody>
      </p:sp>
      <p:pic>
        <p:nvPicPr>
          <p:cNvPr id="3" name="Picture 2">
            <a:extLst>
              <a:ext uri="{FF2B5EF4-FFF2-40B4-BE49-F238E27FC236}">
                <a16:creationId xmlns:a16="http://schemas.microsoft.com/office/drawing/2014/main" id="{1CA07AB7-BE58-2BB9-0D4E-9A4F5B729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660" y="1226964"/>
            <a:ext cx="11552119" cy="3562055"/>
          </a:xfrm>
          <a:prstGeom prst="rect">
            <a:avLst/>
          </a:prstGeom>
        </p:spPr>
      </p:pic>
      <p:sp>
        <p:nvSpPr>
          <p:cNvPr id="4" name="TextBox 3">
            <a:extLst>
              <a:ext uri="{FF2B5EF4-FFF2-40B4-BE49-F238E27FC236}">
                <a16:creationId xmlns:a16="http://schemas.microsoft.com/office/drawing/2014/main" id="{FF93100E-26DF-014C-E12E-3C16DA81D61F}"/>
              </a:ext>
            </a:extLst>
          </p:cNvPr>
          <p:cNvSpPr txBox="1"/>
          <p:nvPr/>
        </p:nvSpPr>
        <p:spPr>
          <a:xfrm>
            <a:off x="352926" y="578335"/>
            <a:ext cx="5999748" cy="400110"/>
          </a:xfrm>
          <a:prstGeom prst="rect">
            <a:avLst/>
          </a:prstGeom>
          <a:noFill/>
        </p:spPr>
        <p:txBody>
          <a:bodyPr wrap="square" rtlCol="0">
            <a:spAutoFit/>
          </a:bodyPr>
          <a:lstStyle/>
          <a:p>
            <a:r>
              <a:rPr lang="en-US" sz="2000" b="1" dirty="0"/>
              <a:t>Customer Performance</a:t>
            </a:r>
          </a:p>
        </p:txBody>
      </p:sp>
    </p:spTree>
    <p:extLst>
      <p:ext uri="{BB962C8B-B14F-4D97-AF65-F5344CB8AC3E}">
        <p14:creationId xmlns:p14="http://schemas.microsoft.com/office/powerpoint/2010/main" val="37241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3F19-A824-6CB3-52B0-017C66DFBA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9246332-B3BE-AE0B-F2CB-4BC4413B65F9}"/>
              </a:ext>
            </a:extLst>
          </p:cNvPr>
          <p:cNvSpPr txBox="1"/>
          <p:nvPr/>
        </p:nvSpPr>
        <p:spPr>
          <a:xfrm>
            <a:off x="5358063" y="2207930"/>
            <a:ext cx="6706621" cy="3117135"/>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sz="1900" dirty="0"/>
              <a:t>Countries such as Turkey is the largest source of financial drain with a loss of -$98.4K, followed closely by Nigeria at -$80.8K, making these two countries the primary targets for urgent cost-cutting and strategy shifts.</a:t>
            </a:r>
          </a:p>
          <a:p>
            <a:pPr marL="285750" indent="-285750">
              <a:lnSpc>
                <a:spcPct val="150000"/>
              </a:lnSpc>
              <a:buClr>
                <a:srgbClr val="018FD1"/>
              </a:buClr>
              <a:buFont typeface="Wingdings" panose="05000000000000000000" pitchFamily="2" charset="2"/>
              <a:buChar char="ü"/>
            </a:pPr>
            <a:r>
              <a:rPr lang="en-US" sz="1900" dirty="0"/>
              <a:t>Large losses in these countries suggest that logistics and shipping to these specific regions may be significantly eating into revenue.</a:t>
            </a:r>
          </a:p>
        </p:txBody>
      </p:sp>
      <p:sp>
        <p:nvSpPr>
          <p:cNvPr id="2" name="TextBox 1">
            <a:extLst>
              <a:ext uri="{FF2B5EF4-FFF2-40B4-BE49-F238E27FC236}">
                <a16:creationId xmlns:a16="http://schemas.microsoft.com/office/drawing/2014/main" id="{AE1DA4FE-6D9D-047D-B177-08A36BC5C408}"/>
              </a:ext>
            </a:extLst>
          </p:cNvPr>
          <p:cNvSpPr txBox="1"/>
          <p:nvPr/>
        </p:nvSpPr>
        <p:spPr>
          <a:xfrm>
            <a:off x="174660" y="106078"/>
            <a:ext cx="8117305" cy="461665"/>
          </a:xfrm>
          <a:prstGeom prst="rect">
            <a:avLst/>
          </a:prstGeom>
          <a:noFill/>
        </p:spPr>
        <p:txBody>
          <a:bodyPr wrap="square" rtlCol="0">
            <a:spAutoFit/>
          </a:bodyPr>
          <a:lstStyle/>
          <a:p>
            <a:r>
              <a:rPr lang="en-US" sz="2400" b="1" dirty="0"/>
              <a:t>RISK AND LOSS ANALYSIS</a:t>
            </a:r>
          </a:p>
        </p:txBody>
      </p:sp>
      <p:sp>
        <p:nvSpPr>
          <p:cNvPr id="4" name="TextBox 3">
            <a:extLst>
              <a:ext uri="{FF2B5EF4-FFF2-40B4-BE49-F238E27FC236}">
                <a16:creationId xmlns:a16="http://schemas.microsoft.com/office/drawing/2014/main" id="{83F2F6EF-7194-AB59-2E69-8806F354877D}"/>
              </a:ext>
            </a:extLst>
          </p:cNvPr>
          <p:cNvSpPr txBox="1"/>
          <p:nvPr/>
        </p:nvSpPr>
        <p:spPr>
          <a:xfrm>
            <a:off x="352926" y="578335"/>
            <a:ext cx="5999748" cy="400110"/>
          </a:xfrm>
          <a:prstGeom prst="rect">
            <a:avLst/>
          </a:prstGeom>
          <a:noFill/>
        </p:spPr>
        <p:txBody>
          <a:bodyPr wrap="square" rtlCol="0">
            <a:spAutoFit/>
          </a:bodyPr>
          <a:lstStyle/>
          <a:p>
            <a:r>
              <a:rPr lang="en-US" sz="2000" b="1" dirty="0"/>
              <a:t>Country Performance</a:t>
            </a:r>
          </a:p>
        </p:txBody>
      </p:sp>
      <p:pic>
        <p:nvPicPr>
          <p:cNvPr id="5" name="Content Placeholder 4">
            <a:extLst>
              <a:ext uri="{FF2B5EF4-FFF2-40B4-BE49-F238E27FC236}">
                <a16:creationId xmlns:a16="http://schemas.microsoft.com/office/drawing/2014/main" id="{7F954487-05C7-D932-133C-E71CB9DEA3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926" y="1253331"/>
            <a:ext cx="5005137" cy="5026334"/>
          </a:xfrm>
        </p:spPr>
      </p:pic>
    </p:spTree>
    <p:extLst>
      <p:ext uri="{BB962C8B-B14F-4D97-AF65-F5344CB8AC3E}">
        <p14:creationId xmlns:p14="http://schemas.microsoft.com/office/powerpoint/2010/main" val="3551134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16BC-F3B1-4336-A5E2-AB84CC59908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C8F21CF-873C-9678-069B-4AB45202C702}"/>
              </a:ext>
            </a:extLst>
          </p:cNvPr>
          <p:cNvSpPr txBox="1"/>
          <p:nvPr/>
        </p:nvSpPr>
        <p:spPr>
          <a:xfrm>
            <a:off x="352926" y="3928370"/>
            <a:ext cx="11423000" cy="2678554"/>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sz="1900" dirty="0"/>
              <a:t>The largest loss comes from the Cubify CubeX 3D Printer Double Head Print (-$8,879.97).</a:t>
            </a:r>
          </a:p>
          <a:p>
            <a:pPr marL="285750" indent="-285750">
              <a:lnSpc>
                <a:spcPct val="150000"/>
              </a:lnSpc>
              <a:buClr>
                <a:srgbClr val="018FD1"/>
              </a:buClr>
              <a:buFont typeface="Wingdings" panose="05000000000000000000" pitchFamily="2" charset="2"/>
              <a:buChar char="ü"/>
            </a:pPr>
            <a:r>
              <a:rPr lang="en-US" sz="1900" dirty="0"/>
              <a:t>Tables is the only loss-making sub-category, generating a negative profit (−$64.1K)</a:t>
            </a:r>
          </a:p>
          <a:p>
            <a:pPr marL="285750" indent="-285750">
              <a:lnSpc>
                <a:spcPct val="150000"/>
              </a:lnSpc>
              <a:buClr>
                <a:srgbClr val="018FD1"/>
              </a:buClr>
              <a:buFont typeface="Wingdings" panose="05000000000000000000" pitchFamily="2" charset="2"/>
              <a:buChar char="ü"/>
            </a:pPr>
            <a:r>
              <a:rPr lang="en-US" sz="1900" dirty="0"/>
              <a:t>Tables and storage products particularly from the Bevis and Rogers brands, consistently generate losses, indicating potential issues with pricing strategy, excessive discounting, or an unfavorable cost structure.</a:t>
            </a:r>
          </a:p>
          <a:p>
            <a:pPr marL="285750" indent="-285750">
              <a:lnSpc>
                <a:spcPct val="150000"/>
              </a:lnSpc>
              <a:buClr>
                <a:srgbClr val="018FD1"/>
              </a:buClr>
              <a:buFont typeface="Wingdings" panose="05000000000000000000" pitchFamily="2" charset="2"/>
              <a:buChar char="ü"/>
            </a:pPr>
            <a:r>
              <a:rPr lang="en-US" sz="1900" dirty="0"/>
              <a:t>However, loss making products should first be reviewed for pricing errors, high cost of goods, or excessive discounting before discontinuation.</a:t>
            </a:r>
          </a:p>
        </p:txBody>
      </p:sp>
      <p:sp>
        <p:nvSpPr>
          <p:cNvPr id="2" name="TextBox 1">
            <a:extLst>
              <a:ext uri="{FF2B5EF4-FFF2-40B4-BE49-F238E27FC236}">
                <a16:creationId xmlns:a16="http://schemas.microsoft.com/office/drawing/2014/main" id="{071DCDE8-A663-AABA-0D2B-A703F7FF5070}"/>
              </a:ext>
            </a:extLst>
          </p:cNvPr>
          <p:cNvSpPr txBox="1"/>
          <p:nvPr/>
        </p:nvSpPr>
        <p:spPr>
          <a:xfrm>
            <a:off x="174660" y="106078"/>
            <a:ext cx="8117305" cy="461665"/>
          </a:xfrm>
          <a:prstGeom prst="rect">
            <a:avLst/>
          </a:prstGeom>
          <a:noFill/>
        </p:spPr>
        <p:txBody>
          <a:bodyPr wrap="square" rtlCol="0">
            <a:spAutoFit/>
          </a:bodyPr>
          <a:lstStyle/>
          <a:p>
            <a:r>
              <a:rPr lang="en-US" sz="2400" b="1" dirty="0"/>
              <a:t>RISK AND LOSS ANALYSIS</a:t>
            </a:r>
          </a:p>
        </p:txBody>
      </p:sp>
      <p:sp>
        <p:nvSpPr>
          <p:cNvPr id="4" name="TextBox 3">
            <a:extLst>
              <a:ext uri="{FF2B5EF4-FFF2-40B4-BE49-F238E27FC236}">
                <a16:creationId xmlns:a16="http://schemas.microsoft.com/office/drawing/2014/main" id="{7340DC81-0059-1FC0-F6FD-27131AEC548F}"/>
              </a:ext>
            </a:extLst>
          </p:cNvPr>
          <p:cNvSpPr txBox="1"/>
          <p:nvPr/>
        </p:nvSpPr>
        <p:spPr>
          <a:xfrm>
            <a:off x="352926" y="578335"/>
            <a:ext cx="5999748" cy="400110"/>
          </a:xfrm>
          <a:prstGeom prst="rect">
            <a:avLst/>
          </a:prstGeom>
          <a:noFill/>
        </p:spPr>
        <p:txBody>
          <a:bodyPr wrap="square" rtlCol="0">
            <a:spAutoFit/>
          </a:bodyPr>
          <a:lstStyle/>
          <a:p>
            <a:r>
              <a:rPr lang="en-US" sz="2000" b="1" dirty="0"/>
              <a:t>Product Performance</a:t>
            </a:r>
          </a:p>
        </p:txBody>
      </p:sp>
      <p:pic>
        <p:nvPicPr>
          <p:cNvPr id="11" name="Picture 10">
            <a:extLst>
              <a:ext uri="{FF2B5EF4-FFF2-40B4-BE49-F238E27FC236}">
                <a16:creationId xmlns:a16="http://schemas.microsoft.com/office/drawing/2014/main" id="{4ED476B4-22F1-D150-EA60-709E1E5ABB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926" y="978444"/>
            <a:ext cx="11563150" cy="2949925"/>
          </a:xfrm>
          <a:prstGeom prst="rect">
            <a:avLst/>
          </a:prstGeom>
        </p:spPr>
      </p:pic>
    </p:spTree>
    <p:extLst>
      <p:ext uri="{BB962C8B-B14F-4D97-AF65-F5344CB8AC3E}">
        <p14:creationId xmlns:p14="http://schemas.microsoft.com/office/powerpoint/2010/main" val="208993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B0105-31E8-68C8-CD25-1402FB82A3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E63858C-1DFF-6335-138F-BBFA8A15A467}"/>
              </a:ext>
            </a:extLst>
          </p:cNvPr>
          <p:cNvSpPr txBox="1"/>
          <p:nvPr/>
        </p:nvSpPr>
        <p:spPr>
          <a:xfrm>
            <a:off x="352925" y="3794061"/>
            <a:ext cx="11259145" cy="2957861"/>
          </a:xfrm>
          <a:prstGeom prst="rect">
            <a:avLst/>
          </a:prstGeom>
          <a:noFill/>
        </p:spPr>
        <p:txBody>
          <a:bodyPr wrap="square" rtlCol="0">
            <a:spAutoFit/>
          </a:bodyPr>
          <a:lstStyle/>
          <a:p>
            <a:pPr marL="285750" indent="-285750">
              <a:lnSpc>
                <a:spcPct val="150000"/>
              </a:lnSpc>
              <a:buClr>
                <a:srgbClr val="018FD1"/>
              </a:buClr>
              <a:buFont typeface="Wingdings" panose="05000000000000000000" pitchFamily="2" charset="2"/>
              <a:buChar char="ü"/>
            </a:pPr>
            <a:r>
              <a:rPr lang="en-US" dirty="0"/>
              <a:t>Standard Class is the most preferred and most profitable shipping method, generating significantly higher sales volume and profit than other shipping modes.</a:t>
            </a:r>
          </a:p>
          <a:p>
            <a:pPr marL="285750" indent="-285750">
              <a:lnSpc>
                <a:spcPct val="150000"/>
              </a:lnSpc>
              <a:buClr>
                <a:srgbClr val="018FD1"/>
              </a:buClr>
              <a:buFont typeface="Wingdings" panose="05000000000000000000" pitchFamily="2" charset="2"/>
              <a:buChar char="ü"/>
            </a:pPr>
            <a:r>
              <a:rPr lang="en-US" dirty="0"/>
              <a:t>First Class generates reasonable profit but lower order volume, suggesting customers may use it only when faster delivery is needed.</a:t>
            </a:r>
          </a:p>
          <a:p>
            <a:pPr marL="285750" indent="-285750">
              <a:lnSpc>
                <a:spcPct val="150000"/>
              </a:lnSpc>
              <a:buClr>
                <a:srgbClr val="018FD1"/>
              </a:buClr>
              <a:buFont typeface="Wingdings" panose="05000000000000000000" pitchFamily="2" charset="2"/>
              <a:buChar char="ü"/>
            </a:pPr>
            <a:r>
              <a:rPr lang="en-US" dirty="0"/>
              <a:t>Same Day delivery has very low demand and profitability, likely due to higher costs or limited customer preference.</a:t>
            </a:r>
          </a:p>
          <a:p>
            <a:pPr marL="285750" indent="-285750">
              <a:lnSpc>
                <a:spcPct val="150000"/>
              </a:lnSpc>
              <a:buClr>
                <a:srgbClr val="018FD1"/>
              </a:buClr>
              <a:buFont typeface="Wingdings" panose="05000000000000000000" pitchFamily="2" charset="2"/>
              <a:buChar char="ü"/>
            </a:pPr>
            <a:r>
              <a:rPr lang="en-US" dirty="0"/>
              <a:t>Most revenue and profit come from products sold without discounts, indicating strong product demand even at full price.</a:t>
            </a:r>
          </a:p>
        </p:txBody>
      </p:sp>
      <p:sp>
        <p:nvSpPr>
          <p:cNvPr id="2" name="TextBox 1">
            <a:extLst>
              <a:ext uri="{FF2B5EF4-FFF2-40B4-BE49-F238E27FC236}">
                <a16:creationId xmlns:a16="http://schemas.microsoft.com/office/drawing/2014/main" id="{6B51BE78-1348-0A84-4701-495B5665E64E}"/>
              </a:ext>
            </a:extLst>
          </p:cNvPr>
          <p:cNvSpPr txBox="1"/>
          <p:nvPr/>
        </p:nvSpPr>
        <p:spPr>
          <a:xfrm>
            <a:off x="174660" y="106078"/>
            <a:ext cx="8117305" cy="461665"/>
          </a:xfrm>
          <a:prstGeom prst="rect">
            <a:avLst/>
          </a:prstGeom>
          <a:noFill/>
        </p:spPr>
        <p:txBody>
          <a:bodyPr wrap="square" rtlCol="0">
            <a:spAutoFit/>
          </a:bodyPr>
          <a:lstStyle/>
          <a:p>
            <a:r>
              <a:rPr lang="en-US" sz="2400" b="1" dirty="0"/>
              <a:t>SHIPPING MODE AND DISCOUNT ANALYSIS</a:t>
            </a:r>
          </a:p>
        </p:txBody>
      </p:sp>
      <p:pic>
        <p:nvPicPr>
          <p:cNvPr id="15" name="Picture 14">
            <a:extLst>
              <a:ext uri="{FF2B5EF4-FFF2-40B4-BE49-F238E27FC236}">
                <a16:creationId xmlns:a16="http://schemas.microsoft.com/office/drawing/2014/main" id="{47D7999B-9070-A0C3-85DD-3DB92128E8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926" y="567744"/>
            <a:ext cx="11139013" cy="3227422"/>
          </a:xfrm>
          <a:prstGeom prst="rect">
            <a:avLst/>
          </a:prstGeom>
        </p:spPr>
      </p:pic>
    </p:spTree>
    <p:extLst>
      <p:ext uri="{BB962C8B-B14F-4D97-AF65-F5344CB8AC3E}">
        <p14:creationId xmlns:p14="http://schemas.microsoft.com/office/powerpoint/2010/main" val="188861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E6F1-D0E2-7576-4707-1CA97C1A6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16657-AC92-7736-0533-25F7419DCB2B}"/>
              </a:ext>
            </a:extLst>
          </p:cNvPr>
          <p:cNvSpPr>
            <a:spLocks noGrp="1"/>
          </p:cNvSpPr>
          <p:nvPr>
            <p:ph type="title"/>
          </p:nvPr>
        </p:nvSpPr>
        <p:spPr>
          <a:xfrm>
            <a:off x="-89899" y="141216"/>
            <a:ext cx="10333234" cy="1076868"/>
          </a:xfrm>
        </p:spPr>
        <p:txBody>
          <a:bodyPr/>
          <a:lstStyle/>
          <a:p>
            <a:pPr algn="ctr"/>
            <a:r>
              <a:rPr lang="en-US" b="1" dirty="0"/>
              <a:t>RECOMMENDATION</a:t>
            </a:r>
            <a:endParaRPr lang="en-US" dirty="0"/>
          </a:p>
        </p:txBody>
      </p:sp>
      <p:sp>
        <p:nvSpPr>
          <p:cNvPr id="5" name="Rectangle 2">
            <a:extLst>
              <a:ext uri="{FF2B5EF4-FFF2-40B4-BE49-F238E27FC236}">
                <a16:creationId xmlns:a16="http://schemas.microsoft.com/office/drawing/2014/main" id="{D3B4AE61-2910-3954-FDFE-BF6017252C4A}"/>
              </a:ext>
            </a:extLst>
          </p:cNvPr>
          <p:cNvSpPr>
            <a:spLocks noGrp="1" noChangeArrowheads="1"/>
          </p:cNvSpPr>
          <p:nvPr>
            <p:ph idx="1"/>
          </p:nvPr>
        </p:nvSpPr>
        <p:spPr bwMode="auto">
          <a:xfrm>
            <a:off x="462337" y="1232932"/>
            <a:ext cx="9780998"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mj-lt"/>
              </a:rPr>
              <a:t> </a:t>
            </a:r>
            <a:r>
              <a:rPr kumimoji="0" lang="en-US" altLang="en-US" sz="2300" b="1" i="0" u="none" strike="noStrike" cap="none" normalizeH="0" baseline="0" dirty="0">
                <a:ln>
                  <a:noFill/>
                </a:ln>
                <a:solidFill>
                  <a:schemeClr val="tx1"/>
                </a:solidFill>
                <a:effectLst/>
              </a:rPr>
              <a:t>Underperforming products:</a:t>
            </a:r>
            <a:r>
              <a:rPr kumimoji="0" lang="en-US" altLang="en-US" sz="2300" b="0" i="0" u="none" strike="noStrike" cap="none" normalizeH="0" baseline="0" dirty="0">
                <a:ln>
                  <a:noFill/>
                </a:ln>
                <a:solidFill>
                  <a:schemeClr val="tx1"/>
                </a:solidFill>
                <a:effectLst/>
              </a:rPr>
              <a:t> Tables, especially </a:t>
            </a:r>
            <a:r>
              <a:rPr kumimoji="0" lang="en-US" altLang="en-US" sz="2300" b="0" i="1" u="none" strike="noStrike" cap="none" normalizeH="0" baseline="0" dirty="0">
                <a:ln>
                  <a:noFill/>
                </a:ln>
                <a:solidFill>
                  <a:schemeClr val="tx1"/>
                </a:solidFill>
                <a:effectLst/>
              </a:rPr>
              <a:t>Cubify CubeX 3D Printer Double Head</a:t>
            </a:r>
            <a:r>
              <a:rPr kumimoji="0" lang="en-US" altLang="en-US" sz="2300" b="0" i="0" u="none" strike="noStrike" cap="none" normalizeH="0" baseline="0" dirty="0">
                <a:ln>
                  <a:noFill/>
                </a:ln>
                <a:solidFill>
                  <a:schemeClr val="tx1"/>
                </a:solidFill>
                <a:effectLst/>
              </a:rPr>
              <a:t>, show significant losses. Review pricing and logistics; consider removal in unprofitable regions if no improvement.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300" b="0" i="0" u="none" strike="noStrike" cap="none" normalizeH="0" baseline="0" dirty="0">
              <a:ln>
                <a:noFill/>
              </a:ln>
              <a:solidFill>
                <a:schemeClr val="tx1"/>
              </a:solidFill>
              <a:effectLst/>
              <a:latin typeface="+mj-lt"/>
            </a:endParaRPr>
          </a:p>
        </p:txBody>
      </p:sp>
      <p:pic>
        <p:nvPicPr>
          <p:cNvPr id="7" name="Picture 6">
            <a:extLst>
              <a:ext uri="{FF2B5EF4-FFF2-40B4-BE49-F238E27FC236}">
                <a16:creationId xmlns:a16="http://schemas.microsoft.com/office/drawing/2014/main" id="{38CAF64F-7422-5626-65B5-EB12CB697D7F}"/>
              </a:ext>
            </a:extLst>
          </p:cNvPr>
          <p:cNvPicPr>
            <a:picLocks noChangeAspect="1"/>
          </p:cNvPicPr>
          <p:nvPr/>
        </p:nvPicPr>
        <p:blipFill>
          <a:blip r:embed="rId2">
            <a:extLst>
              <a:ext uri="{28A0092B-C50C-407E-A947-70E740481C1C}">
                <a14:useLocalDpi xmlns:a14="http://schemas.microsoft.com/office/drawing/2010/main" val="0"/>
              </a:ext>
            </a:extLst>
          </a:blip>
          <a:srcRect b="24960"/>
          <a:stretch>
            <a:fillRect/>
          </a:stretch>
        </p:blipFill>
        <p:spPr>
          <a:xfrm>
            <a:off x="9370033" y="-370624"/>
            <a:ext cx="3517816" cy="2797684"/>
          </a:xfrm>
          <a:prstGeom prst="rect">
            <a:avLst/>
          </a:prstGeom>
        </p:spPr>
      </p:pic>
      <p:sp>
        <p:nvSpPr>
          <p:cNvPr id="8" name="TextBox 7">
            <a:extLst>
              <a:ext uri="{FF2B5EF4-FFF2-40B4-BE49-F238E27FC236}">
                <a16:creationId xmlns:a16="http://schemas.microsoft.com/office/drawing/2014/main" id="{9DEAECC3-5B6F-048A-4215-A97CECC5194C}"/>
              </a:ext>
            </a:extLst>
          </p:cNvPr>
          <p:cNvSpPr txBox="1"/>
          <p:nvPr/>
        </p:nvSpPr>
        <p:spPr>
          <a:xfrm>
            <a:off x="462337" y="2427060"/>
            <a:ext cx="11349519" cy="3985706"/>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300" b="1" dirty="0"/>
              <a:t> High-profit categories:</a:t>
            </a:r>
            <a:r>
              <a:rPr lang="en-US" altLang="en-US" sz="2300" dirty="0"/>
              <a:t> Copiers and Phones should get priority in promotions and stock across physical and online channels.</a:t>
            </a:r>
          </a:p>
          <a:p>
            <a:pPr lvl="0" eaLnBrk="0" fontAlgn="base" hangingPunct="0">
              <a:spcBef>
                <a:spcPct val="0"/>
              </a:spcBef>
              <a:spcAft>
                <a:spcPct val="0"/>
              </a:spcAft>
            </a:pPr>
            <a:endParaRPr lang="en-US" altLang="en-US" sz="2300" dirty="0"/>
          </a:p>
          <a:p>
            <a:pPr lvl="0" eaLnBrk="0" fontAlgn="base" hangingPunct="0">
              <a:spcBef>
                <a:spcPct val="0"/>
              </a:spcBef>
              <a:spcAft>
                <a:spcPct val="0"/>
              </a:spcAft>
              <a:buFontTx/>
              <a:buChar char="•"/>
            </a:pPr>
            <a:r>
              <a:rPr lang="en-US" altLang="en-US" sz="2300" b="1" dirty="0"/>
              <a:t> Loss-making countries:</a:t>
            </a:r>
            <a:r>
              <a:rPr lang="en-US" altLang="en-US" sz="2300" dirty="0"/>
              <a:t> Investigate causes in markets like Turkey and Nigeria (e.g., excessive discounts, high shipping costs, low demand).</a:t>
            </a:r>
          </a:p>
          <a:p>
            <a:pPr lvl="0" eaLnBrk="0" fontAlgn="base" hangingPunct="0">
              <a:spcBef>
                <a:spcPct val="0"/>
              </a:spcBef>
              <a:spcAft>
                <a:spcPct val="0"/>
              </a:spcAft>
            </a:pPr>
            <a:endParaRPr lang="en-US" altLang="en-US" sz="2300" dirty="0"/>
          </a:p>
          <a:p>
            <a:pPr lvl="0" eaLnBrk="0" fontAlgn="base" hangingPunct="0">
              <a:spcBef>
                <a:spcPct val="0"/>
              </a:spcBef>
              <a:spcAft>
                <a:spcPct val="0"/>
              </a:spcAft>
              <a:buFontTx/>
              <a:buChar char="•"/>
            </a:pPr>
            <a:r>
              <a:rPr lang="en-US" altLang="en-US" sz="2300" b="1" dirty="0"/>
              <a:t> Top customers:</a:t>
            </a:r>
            <a:r>
              <a:rPr lang="en-US" altLang="en-US" sz="2300" dirty="0"/>
              <a:t> Focus on high-value clients like Tamara Chand, Raymond Buch, and Sanjit Chand with personalized offers or priority services to boost retention and value.</a:t>
            </a:r>
          </a:p>
          <a:p>
            <a:pPr lvl="0" eaLnBrk="0" fontAlgn="base" hangingPunct="0">
              <a:spcBef>
                <a:spcPct val="0"/>
              </a:spcBef>
              <a:spcAft>
                <a:spcPct val="0"/>
              </a:spcAft>
            </a:pPr>
            <a:endParaRPr lang="en-US" altLang="en-US" sz="2300" dirty="0"/>
          </a:p>
          <a:p>
            <a:pPr lvl="0" eaLnBrk="0" fontAlgn="base" hangingPunct="0">
              <a:spcBef>
                <a:spcPct val="0"/>
              </a:spcBef>
              <a:spcAft>
                <a:spcPct val="0"/>
              </a:spcAft>
              <a:buFontTx/>
              <a:buChar char="•"/>
            </a:pPr>
            <a:r>
              <a:rPr lang="en-US" altLang="en-US" sz="2300" b="1" dirty="0"/>
              <a:t> Outstanding balances:</a:t>
            </a:r>
            <a:r>
              <a:rPr lang="en-US" altLang="en-US" sz="2300" dirty="0"/>
              <a:t> Improve collections through stricter credit controls, clearer terms, proactive follow-ups, and structured payment plans where needed.</a:t>
            </a:r>
          </a:p>
        </p:txBody>
      </p:sp>
    </p:spTree>
    <p:extLst>
      <p:ext uri="{BB962C8B-B14F-4D97-AF65-F5344CB8AC3E}">
        <p14:creationId xmlns:p14="http://schemas.microsoft.com/office/powerpoint/2010/main" val="2971094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E6CE6-C8D6-7E11-35C3-17F2B03BBA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A189D3F-4978-9763-C789-B693CA704378}"/>
              </a:ext>
            </a:extLst>
          </p:cNvPr>
          <p:cNvSpPr/>
          <p:nvPr/>
        </p:nvSpPr>
        <p:spPr>
          <a:xfrm>
            <a:off x="1" y="0"/>
            <a:ext cx="8373437" cy="174660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C5CCAC-B690-55BF-5A12-3F2395F232A2}"/>
              </a:ext>
            </a:extLst>
          </p:cNvPr>
          <p:cNvSpPr>
            <a:spLocks noGrp="1"/>
          </p:cNvSpPr>
          <p:nvPr>
            <p:ph type="title"/>
          </p:nvPr>
        </p:nvSpPr>
        <p:spPr>
          <a:xfrm>
            <a:off x="-143840" y="267030"/>
            <a:ext cx="8373439" cy="1325563"/>
          </a:xfrm>
        </p:spPr>
        <p:txBody>
          <a:bodyPr/>
          <a:lstStyle/>
          <a:p>
            <a:pPr algn="ctr"/>
            <a:r>
              <a:rPr lang="en-US" b="1" dirty="0">
                <a:solidFill>
                  <a:schemeClr val="bg1"/>
                </a:solidFill>
              </a:rPr>
              <a:t>CHALLENGES FACED AND HOW IT WAS SOLVED</a:t>
            </a:r>
          </a:p>
        </p:txBody>
      </p:sp>
      <p:sp>
        <p:nvSpPr>
          <p:cNvPr id="3" name="Content Placeholder 2">
            <a:extLst>
              <a:ext uri="{FF2B5EF4-FFF2-40B4-BE49-F238E27FC236}">
                <a16:creationId xmlns:a16="http://schemas.microsoft.com/office/drawing/2014/main" id="{DD0809CF-396C-B06D-D1E1-87E8065336BC}"/>
              </a:ext>
            </a:extLst>
          </p:cNvPr>
          <p:cNvSpPr>
            <a:spLocks noGrp="1"/>
          </p:cNvSpPr>
          <p:nvPr>
            <p:ph idx="1"/>
          </p:nvPr>
        </p:nvSpPr>
        <p:spPr>
          <a:xfrm>
            <a:off x="431199" y="2126751"/>
            <a:ext cx="10515600" cy="4351338"/>
          </a:xfrm>
        </p:spPr>
        <p:txBody>
          <a:bodyPr>
            <a:normAutofit/>
          </a:bodyPr>
          <a:lstStyle/>
          <a:p>
            <a:r>
              <a:rPr lang="en-US" b="1" dirty="0"/>
              <a:t>Data Quality Issues:</a:t>
            </a:r>
            <a:r>
              <a:rPr lang="en-US" dirty="0"/>
              <a:t> Missing values and inconsistent formatting.</a:t>
            </a:r>
          </a:p>
          <a:p>
            <a:pPr lvl="1"/>
            <a:r>
              <a:rPr lang="en-US" dirty="0"/>
              <a:t>Solved by data cleaning and standardization.</a:t>
            </a:r>
          </a:p>
          <a:p>
            <a:r>
              <a:rPr lang="en-US" b="1" dirty="0"/>
              <a:t>Profit Distortion Due to Discounts:</a:t>
            </a:r>
            <a:r>
              <a:rPr lang="en-US" dirty="0"/>
              <a:t> Difficult to identify true profit drivers.</a:t>
            </a:r>
          </a:p>
          <a:p>
            <a:pPr lvl="1"/>
            <a:r>
              <a:rPr lang="en-US" dirty="0"/>
              <a:t>Solved by isolating discounted vs non-discounted performance.</a:t>
            </a:r>
          </a:p>
          <a:p>
            <a:r>
              <a:rPr lang="en-US" b="1" dirty="0"/>
              <a:t>Multi-Dimensional Analysis:</a:t>
            </a:r>
            <a:r>
              <a:rPr lang="en-US" dirty="0"/>
              <a:t> Complex relationships across regions, categories, and time.</a:t>
            </a:r>
          </a:p>
          <a:p>
            <a:pPr lvl="1"/>
            <a:r>
              <a:rPr lang="en-US" dirty="0"/>
              <a:t>Solved by implementing a Star Schema data model.</a:t>
            </a:r>
          </a:p>
          <a:p>
            <a:r>
              <a:rPr lang="en-US" b="1" dirty="0"/>
              <a:t>Identifying True Loss Drivers:</a:t>
            </a:r>
            <a:r>
              <a:rPr lang="en-US" dirty="0"/>
              <a:t> Sales did not equal profit.</a:t>
            </a:r>
          </a:p>
          <a:p>
            <a:pPr lvl="1"/>
            <a:r>
              <a:rPr lang="en-US" dirty="0"/>
              <a:t>Used sub-category and product-level drilldowns</a:t>
            </a:r>
          </a:p>
          <a:p>
            <a:pPr marL="0" indent="0">
              <a:buNone/>
            </a:pPr>
            <a:endParaRPr lang="en-US" dirty="0"/>
          </a:p>
        </p:txBody>
      </p:sp>
      <p:pic>
        <p:nvPicPr>
          <p:cNvPr id="8" name="Picture 7">
            <a:extLst>
              <a:ext uri="{FF2B5EF4-FFF2-40B4-BE49-F238E27FC236}">
                <a16:creationId xmlns:a16="http://schemas.microsoft.com/office/drawing/2014/main" id="{6DCA04FB-E671-EDC7-BFF7-E88F49196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3437" y="-267128"/>
            <a:ext cx="3818563" cy="2609636"/>
          </a:xfrm>
          <a:prstGeom prst="rect">
            <a:avLst/>
          </a:prstGeom>
        </p:spPr>
      </p:pic>
    </p:spTree>
    <p:extLst>
      <p:ext uri="{BB962C8B-B14F-4D97-AF65-F5344CB8AC3E}">
        <p14:creationId xmlns:p14="http://schemas.microsoft.com/office/powerpoint/2010/main" val="3046274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2AC3-E80E-D16E-453C-E939704016F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26A9811-0C3F-A7F5-473E-895068E13831}"/>
              </a:ext>
            </a:extLst>
          </p:cNvPr>
          <p:cNvSpPr/>
          <p:nvPr/>
        </p:nvSpPr>
        <p:spPr>
          <a:xfrm>
            <a:off x="0" y="0"/>
            <a:ext cx="12192000" cy="14444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B03F32-3B87-3F5D-625D-F70212A26BC6}"/>
              </a:ext>
            </a:extLst>
          </p:cNvPr>
          <p:cNvSpPr>
            <a:spLocks noGrp="1"/>
          </p:cNvSpPr>
          <p:nvPr>
            <p:ph type="title"/>
          </p:nvPr>
        </p:nvSpPr>
        <p:spPr>
          <a:xfrm>
            <a:off x="2158428" y="118900"/>
            <a:ext cx="5552326" cy="1325563"/>
          </a:xfrm>
        </p:spPr>
        <p:txBody>
          <a:bodyPr>
            <a:normAutofit/>
          </a:bodyPr>
          <a:lstStyle/>
          <a:p>
            <a:pPr algn="ctr"/>
            <a:r>
              <a:rPr lang="en-US" sz="6000" b="1" dirty="0">
                <a:solidFill>
                  <a:schemeClr val="bg1"/>
                </a:solidFill>
              </a:rPr>
              <a:t>CONCLUSION</a:t>
            </a:r>
            <a:endParaRPr lang="en-US" sz="6000" dirty="0">
              <a:solidFill>
                <a:schemeClr val="bg1"/>
              </a:solidFill>
            </a:endParaRPr>
          </a:p>
        </p:txBody>
      </p:sp>
      <p:sp>
        <p:nvSpPr>
          <p:cNvPr id="3" name="Content Placeholder 2">
            <a:extLst>
              <a:ext uri="{FF2B5EF4-FFF2-40B4-BE49-F238E27FC236}">
                <a16:creationId xmlns:a16="http://schemas.microsoft.com/office/drawing/2014/main" id="{CC504638-4432-D326-993F-55AF7CD191EA}"/>
              </a:ext>
            </a:extLst>
          </p:cNvPr>
          <p:cNvSpPr>
            <a:spLocks noGrp="1"/>
          </p:cNvSpPr>
          <p:nvPr>
            <p:ph idx="1"/>
          </p:nvPr>
        </p:nvSpPr>
        <p:spPr>
          <a:xfrm>
            <a:off x="160106" y="1496342"/>
            <a:ext cx="9179103" cy="4842303"/>
          </a:xfrm>
        </p:spPr>
        <p:txBody>
          <a:bodyPr>
            <a:normAutofit fontScale="85000" lnSpcReduction="10000"/>
          </a:bodyPr>
          <a:lstStyle/>
          <a:p>
            <a:pPr marL="0" indent="0">
              <a:lnSpc>
                <a:spcPct val="120000"/>
              </a:lnSpc>
              <a:buNone/>
            </a:pPr>
            <a:r>
              <a:rPr lang="en-US" sz="3000" dirty="0"/>
              <a:t>The Global Superstore demonstrates strong revenue growth and expanding operations. However, profitability is being eroded by:</a:t>
            </a:r>
          </a:p>
          <a:p>
            <a:pPr>
              <a:lnSpc>
                <a:spcPct val="150000"/>
              </a:lnSpc>
            </a:pPr>
            <a:r>
              <a:rPr lang="en-US" sz="3000" dirty="0"/>
              <a:t>Excessive discounting</a:t>
            </a:r>
          </a:p>
          <a:p>
            <a:pPr>
              <a:lnSpc>
                <a:spcPct val="150000"/>
              </a:lnSpc>
            </a:pPr>
            <a:r>
              <a:rPr lang="en-US" sz="3000" dirty="0"/>
              <a:t>Loss-making furniture sub-categories (Tables)</a:t>
            </a:r>
          </a:p>
          <a:p>
            <a:pPr>
              <a:lnSpc>
                <a:spcPct val="150000"/>
              </a:lnSpc>
            </a:pPr>
            <a:r>
              <a:rPr lang="en-US" sz="3000" dirty="0"/>
              <a:t>Low-margin markets By optimizing discount policies, refining product mix, and focusing on high-margin markets, the business can significantly improve its overall profit margin beyond the current 11.61%.</a:t>
            </a:r>
          </a:p>
          <a:p>
            <a:pPr marL="0" indent="0">
              <a:buNone/>
            </a:pPr>
            <a:endParaRPr lang="en-US" dirty="0"/>
          </a:p>
        </p:txBody>
      </p:sp>
      <p:pic>
        <p:nvPicPr>
          <p:cNvPr id="7" name="Picture 6">
            <a:extLst>
              <a:ext uri="{FF2B5EF4-FFF2-40B4-BE49-F238E27FC236}">
                <a16:creationId xmlns:a16="http://schemas.microsoft.com/office/drawing/2014/main" id="{6658C542-FAFE-292C-D9BF-51E7F16ABD03}"/>
              </a:ext>
            </a:extLst>
          </p:cNvPr>
          <p:cNvPicPr>
            <a:picLocks noChangeAspect="1"/>
          </p:cNvPicPr>
          <p:nvPr/>
        </p:nvPicPr>
        <p:blipFill>
          <a:blip r:embed="rId2">
            <a:extLst>
              <a:ext uri="{28A0092B-C50C-407E-A947-70E740481C1C}">
                <a14:useLocalDpi xmlns:a14="http://schemas.microsoft.com/office/drawing/2010/main" val="0"/>
              </a:ext>
            </a:extLst>
          </a:blip>
          <a:srcRect l="40404"/>
          <a:stretch>
            <a:fillRect/>
          </a:stretch>
        </p:blipFill>
        <p:spPr>
          <a:xfrm>
            <a:off x="8289907" y="301990"/>
            <a:ext cx="4158947" cy="6254019"/>
          </a:xfrm>
          <a:prstGeom prst="rect">
            <a:avLst/>
          </a:prstGeom>
        </p:spPr>
      </p:pic>
      <p:sp>
        <p:nvSpPr>
          <p:cNvPr id="8" name="Rectangle 7">
            <a:extLst>
              <a:ext uri="{FF2B5EF4-FFF2-40B4-BE49-F238E27FC236}">
                <a16:creationId xmlns:a16="http://schemas.microsoft.com/office/drawing/2014/main" id="{3A3CE111-148F-6A48-CD2D-930FC9D6D4B4}"/>
              </a:ext>
            </a:extLst>
          </p:cNvPr>
          <p:cNvSpPr/>
          <p:nvPr/>
        </p:nvSpPr>
        <p:spPr>
          <a:xfrm>
            <a:off x="8106310" y="3215812"/>
            <a:ext cx="1315092" cy="8938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172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B64641-C6E5-2873-A9FD-5EB8C312E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3265634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TotalTime>
  <Words>1286</Words>
  <Application>Microsoft Office PowerPoint</Application>
  <PresentationFormat>Widescreen</PresentationFormat>
  <Paragraphs>97</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Bahnschrift SemiBold</vt:lpstr>
      <vt:lpstr>Britannic Bold</vt:lpstr>
      <vt:lpstr>Calibri</vt:lpstr>
      <vt:lpstr>Calibri Light</vt:lpstr>
      <vt:lpstr>Wingdings</vt:lpstr>
      <vt:lpstr>Office Theme</vt:lpstr>
      <vt:lpstr>Presented by  Confidence Ihediohamma</vt:lpstr>
      <vt:lpstr>PowerPoint Presentation</vt:lpstr>
      <vt:lpstr>INTRODUCTION</vt:lpstr>
      <vt:lpstr>PowerPoint Presentation</vt:lpstr>
      <vt:lpstr>PowerPoint Presentation</vt:lpstr>
      <vt:lpstr>PowerPoint Presentation</vt:lpstr>
      <vt:lpstr>PROBLEM STATEMENT</vt:lpstr>
      <vt:lpstr>KEY PERFORMANCE INDICATORS</vt:lpstr>
      <vt:lpstr>BUSINESS OBJECTIVES</vt:lpstr>
      <vt:lpstr>KEY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vt:lpstr>
      <vt:lpstr>CHALLENGES FACED AND HOW IT WAS SOLVED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11</cp:revision>
  <dcterms:created xsi:type="dcterms:W3CDTF">2026-02-24T09:02:07Z</dcterms:created>
  <dcterms:modified xsi:type="dcterms:W3CDTF">2026-03-06T16:33:53Z</dcterms:modified>
</cp:coreProperties>
</file>